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Arclight is the missing payment rail for open video — it pays creators per real view in USDC, with a privacy-preserving proof the view actually happened. Built entirely on Circle's Arc stack and already running end-to-end on testnet.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vision, then make it easy to act: the system is live, the code is public, the demo is one click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492B"/>
        </a:solidFill>
      </p:bgPr>
    </p:bg>
    <p:spTree>
      <p:nvGrpSpPr>
        <p:cNvPr id="1" name=""/>
        <p:cNvGrpSpPr/>
        <p:nvPr/>
      </p:nvGrpSpPr>
      <p:grpSpPr>
        <a:xfrm>
          <a:off x="0" y="0"/>
          <a:ext cx="0" cy="0"/>
          <a:chOff x="0" y="0"/>
          <a:chExt cx="0" cy="0"/>
        </a:xfrm>
      </p:grpSpPr>
      <p:sp>
        <p:nvSpPr>
          <p:cNvPr id="2" name="Text 0"/>
          <p:cNvSpPr/>
          <p:nvPr/>
        </p:nvSpPr>
        <p:spPr>
          <a:xfrm>
            <a:off x="603504" y="457200"/>
            <a:ext cx="11155680" cy="1828800"/>
          </a:xfrm>
          <a:prstGeom prst="rect">
            <a:avLst/>
          </a:prstGeom>
          <a:noFill/>
          <a:ln/>
        </p:spPr>
        <p:txBody>
          <a:bodyPr wrap="square" lIns="0" tIns="0" rIns="0" bIns="0" rtlCol="0" anchor="ctr"/>
          <a:lstStyle/>
          <a:p>
            <a:pPr indent="0" marL="0">
              <a:lnSpc>
                <a:spcPct val="105000"/>
              </a:lnSpc>
              <a:buNone/>
            </a:pPr>
            <a:r>
              <a:rPr lang="en-US" sz="4400" spc="100" kern="0" dirty="0">
                <a:solidFill>
                  <a:srgbClr val="F8E8E0"/>
                </a:solidFill>
                <a:latin typeface="PT Mono" pitchFamily="34" charset="0"/>
                <a:ea typeface="PT Mono" pitchFamily="34" charset="-122"/>
                <a:cs typeface="PT Mono" pitchFamily="34" charset="-120"/>
              </a:rPr>
              <a:t>PER-VIEW STABLECOIN PAYMENTS</a:t>
            </a:r>
            <a:endParaRPr lang="en-US" sz="4400" dirty="0"/>
          </a:p>
          <a:p>
            <a:pPr indent="0" marL="0">
              <a:lnSpc>
                <a:spcPct val="105000"/>
              </a:lnSpc>
              <a:buNone/>
            </a:pPr>
            <a:r>
              <a:rPr lang="en-US" sz="4400" spc="100" kern="0" dirty="0">
                <a:solidFill>
                  <a:srgbClr val="F8E8E0"/>
                </a:solidFill>
                <a:latin typeface="PT Mono" pitchFamily="34" charset="0"/>
                <a:ea typeface="PT Mono" pitchFamily="34" charset="-122"/>
                <a:cs typeface="PT Mono" pitchFamily="34" charset="-120"/>
              </a:rPr>
              <a:t>FOR OPEN VIDEO</a:t>
            </a:r>
            <a:endParaRPr lang="en-US" sz="4400" dirty="0"/>
          </a:p>
        </p:txBody>
      </p:sp>
      <p:sp>
        <p:nvSpPr>
          <p:cNvPr id="3" name="Text 1"/>
          <p:cNvSpPr/>
          <p:nvPr/>
        </p:nvSpPr>
        <p:spPr>
          <a:xfrm>
            <a:off x="411480" y="3931920"/>
            <a:ext cx="11795760" cy="2606040"/>
          </a:xfrm>
          <a:prstGeom prst="rect">
            <a:avLst/>
          </a:prstGeom>
          <a:noFill/>
          <a:ln/>
        </p:spPr>
        <p:txBody>
          <a:bodyPr wrap="square" lIns="0" tIns="0" rIns="0" bIns="0" rtlCol="0" anchor="b"/>
          <a:lstStyle/>
          <a:p>
            <a:pPr indent="0" marL="0">
              <a:buNone/>
            </a:pPr>
            <a:r>
              <a:rPr lang="en-US" sz="15800" b="1" spc="100" kern="0" dirty="0">
                <a:solidFill>
                  <a:srgbClr val="FFFFFF"/>
                </a:solidFill>
                <a:latin typeface="PT Mono" pitchFamily="34" charset="0"/>
                <a:ea typeface="PT Mono" pitchFamily="34" charset="-122"/>
                <a:cs typeface="PT Mono" pitchFamily="34" charset="-120"/>
              </a:rPr>
              <a:t>ARCLIGHT</a:t>
            </a:r>
            <a:endParaRPr lang="en-US" sz="15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172200" cy="6858000"/>
          </a:xfrm>
          <a:prstGeom prst="rect">
            <a:avLst/>
          </a:prstGeom>
          <a:solidFill>
            <a:srgbClr val="E8492B"/>
          </a:solidFill>
          <a:ln/>
        </p:spPr>
      </p:sp>
      <p:sp>
        <p:nvSpPr>
          <p:cNvPr id="3" name="Text 1"/>
          <p:cNvSpPr/>
          <p:nvPr/>
        </p:nvSpPr>
        <p:spPr>
          <a:xfrm>
            <a:off x="640080" y="548640"/>
            <a:ext cx="10058400" cy="274320"/>
          </a:xfrm>
          <a:prstGeom prst="rect">
            <a:avLst/>
          </a:prstGeom>
          <a:noFill/>
          <a:ln/>
        </p:spPr>
        <p:txBody>
          <a:bodyPr wrap="square" lIns="0" tIns="0" rIns="0" bIns="0" rtlCol="0" anchor="ctr"/>
          <a:lstStyle/>
          <a:p>
            <a:pPr indent="0" marL="0">
              <a:buNone/>
            </a:pPr>
            <a:r>
              <a:rPr lang="en-US" sz="1300" spc="300" kern="0" dirty="0">
                <a:solidFill>
                  <a:srgbClr val="F8E8E0"/>
                </a:solidFill>
                <a:latin typeface="PT Mono" pitchFamily="34" charset="0"/>
                <a:ea typeface="PT Mono" pitchFamily="34" charset="-122"/>
                <a:cs typeface="PT Mono" pitchFamily="34" charset="-120"/>
              </a:rPr>
              <a:t>ABOUT ARCLIGHT</a:t>
            </a:r>
            <a:endParaRPr lang="en-US" sz="1300" dirty="0"/>
          </a:p>
        </p:txBody>
      </p:sp>
      <p:sp>
        <p:nvSpPr>
          <p:cNvPr id="4" name="Text 2"/>
          <p:cNvSpPr/>
          <p:nvPr/>
        </p:nvSpPr>
        <p:spPr>
          <a:xfrm>
            <a:off x="603504" y="2331720"/>
            <a:ext cx="5486400" cy="4297680"/>
          </a:xfrm>
          <a:prstGeom prst="rect">
            <a:avLst/>
          </a:prstGeom>
          <a:noFill/>
          <a:ln/>
        </p:spPr>
        <p:txBody>
          <a:bodyPr wrap="square" lIns="0" tIns="0" rIns="0" bIns="0" rtlCol="0" anchor="b"/>
          <a:lstStyle/>
          <a:p>
            <a:pPr indent="0" marL="0">
              <a:lnSpc>
                <a:spcPct val="104000"/>
              </a:lnSpc>
              <a:buNone/>
            </a:pPr>
            <a:r>
              <a:rPr lang="en-US" sz="4400" b="1" dirty="0">
                <a:solidFill>
                  <a:srgbClr val="FFFFFF"/>
                </a:solidFill>
                <a:latin typeface="PT Mono" pitchFamily="34" charset="0"/>
                <a:ea typeface="PT Mono" pitchFamily="34" charset="-122"/>
                <a:cs typeface="PT Mono" pitchFamily="34" charset="-120"/>
              </a:rPr>
              <a:t>VIDEO HAS</a:t>
            </a:r>
            <a:endParaRPr lang="en-US" sz="4400" dirty="0"/>
          </a:p>
          <a:p>
            <a:pPr indent="0" marL="0">
              <a:lnSpc>
                <a:spcPct val="104000"/>
              </a:lnSpc>
              <a:buNone/>
            </a:pPr>
            <a:r>
              <a:rPr lang="en-US" sz="4400" b="1" dirty="0">
                <a:solidFill>
                  <a:srgbClr val="FFFFFF"/>
                </a:solidFill>
                <a:latin typeface="PT Mono" pitchFamily="34" charset="0"/>
                <a:ea typeface="PT Mono" pitchFamily="34" charset="-122"/>
                <a:cs typeface="PT Mono" pitchFamily="34" charset="-120"/>
              </a:rPr>
              <a:t>NO PAYMENT</a:t>
            </a:r>
            <a:endParaRPr lang="en-US" sz="4400" dirty="0"/>
          </a:p>
          <a:p>
            <a:pPr indent="0" marL="0">
              <a:lnSpc>
                <a:spcPct val="104000"/>
              </a:lnSpc>
              <a:buNone/>
            </a:pPr>
            <a:r>
              <a:rPr lang="en-US" sz="4400" b="1" dirty="0">
                <a:solidFill>
                  <a:srgbClr val="FFFFFF"/>
                </a:solidFill>
                <a:latin typeface="PT Mono" pitchFamily="34" charset="0"/>
                <a:ea typeface="PT Mono" pitchFamily="34" charset="-122"/>
                <a:cs typeface="PT Mono" pitchFamily="34" charset="-120"/>
              </a:rPr>
              <a:t>RAIL OUTSIDE</a:t>
            </a:r>
            <a:endParaRPr lang="en-US" sz="4400" dirty="0"/>
          </a:p>
          <a:p>
            <a:pPr indent="0" marL="0">
              <a:lnSpc>
                <a:spcPct val="104000"/>
              </a:lnSpc>
              <a:buNone/>
            </a:pPr>
            <a:r>
              <a:rPr lang="en-US" sz="4400" b="1" dirty="0">
                <a:solidFill>
                  <a:srgbClr val="FFFFFF"/>
                </a:solidFill>
                <a:latin typeface="PT Mono" pitchFamily="34" charset="0"/>
                <a:ea typeface="PT Mono" pitchFamily="34" charset="-122"/>
                <a:cs typeface="PT Mono" pitchFamily="34" charset="-120"/>
              </a:rPr>
              <a:t>THE WALL</a:t>
            </a:r>
            <a:endParaRPr lang="en-US" sz="4400" dirty="0"/>
          </a:p>
        </p:txBody>
      </p:sp>
      <p:sp>
        <p:nvSpPr>
          <p:cNvPr id="5" name="Text 3"/>
          <p:cNvSpPr/>
          <p:nvPr/>
        </p:nvSpPr>
        <p:spPr>
          <a:xfrm>
            <a:off x="6675120" y="566928"/>
            <a:ext cx="4892040" cy="1828800"/>
          </a:xfrm>
          <a:prstGeom prst="rect">
            <a:avLst/>
          </a:prstGeom>
          <a:noFill/>
          <a:ln/>
        </p:spPr>
        <p:txBody>
          <a:bodyPr wrap="square" lIns="0" tIns="0" rIns="0" bIns="0" rtlCol="0" anchor="ctr"/>
          <a:lstStyle/>
          <a:p>
            <a:pPr indent="0" marL="0">
              <a:lnSpc>
                <a:spcPct val="106000"/>
              </a:lnSpc>
              <a:buNone/>
            </a:pPr>
            <a:r>
              <a:rPr lang="en-US" sz="3000" b="1" dirty="0">
                <a:solidFill>
                  <a:srgbClr val="1A1A1A"/>
                </a:solidFill>
                <a:latin typeface="Helvetica Neue" pitchFamily="34" charset="0"/>
                <a:ea typeface="Helvetica Neue" pitchFamily="34" charset="-122"/>
                <a:cs typeface="Helvetica Neue" pitchFamily="34" charset="-120"/>
              </a:rPr>
              <a:t>Arclight is the missing payment rail </a:t>
            </a:r>
            <a:pPr indent="0" marL="0">
              <a:lnSpc>
                <a:spcPct val="106000"/>
              </a:lnSpc>
              <a:buNone/>
            </a:pPr>
            <a:r>
              <a:rPr lang="en-US" sz="3000" b="1" dirty="0">
                <a:solidFill>
                  <a:srgbClr val="8A8A8A"/>
                </a:solidFill>
                <a:latin typeface="Helvetica Neue" pitchFamily="34" charset="0"/>
                <a:ea typeface="Helvetica Neue" pitchFamily="34" charset="-122"/>
                <a:cs typeface="Helvetica Neue" pitchFamily="34" charset="-120"/>
              </a:rPr>
              <a:t>for open video.</a:t>
            </a:r>
            <a:endParaRPr lang="en-US" sz="3000" dirty="0"/>
          </a:p>
        </p:txBody>
      </p:sp>
      <p:sp>
        <p:nvSpPr>
          <p:cNvPr id="6" name="Text 4"/>
          <p:cNvSpPr/>
          <p:nvPr/>
        </p:nvSpPr>
        <p:spPr>
          <a:xfrm>
            <a:off x="6675120" y="4160520"/>
            <a:ext cx="2331720" cy="2286000"/>
          </a:xfrm>
          <a:prstGeom prst="rect">
            <a:avLst/>
          </a:prstGeom>
          <a:noFill/>
          <a:ln/>
        </p:spPr>
        <p:txBody>
          <a:bodyPr wrap="square" lIns="0" tIns="0" rIns="0" bIns="0" rtlCol="0" anchor="ctr"/>
          <a:lstStyle/>
          <a:p>
            <a:pPr indent="0" marL="0">
              <a:lnSpc>
                <a:spcPct val="134000"/>
              </a:lnSpc>
              <a:buNone/>
            </a:pPr>
            <a:r>
              <a:rPr lang="en-US" sz="1300" dirty="0">
                <a:solidFill>
                  <a:srgbClr val="55504C"/>
                </a:solidFill>
                <a:latin typeface="Helvetica Neue" pitchFamily="34" charset="0"/>
                <a:ea typeface="Helvetica Neue" pitchFamily="34" charset="-122"/>
                <a:cs typeface="Helvetica Neue" pitchFamily="34" charset="-120"/>
              </a:rPr>
              <a:t>YouTube monetizes inside its walls. Everything outside them — PeerTube, Owncast, indie streamers, the fediverse — has the audience but no way to charge for a single view.</a:t>
            </a:r>
            <a:endParaRPr lang="en-US" sz="1300" dirty="0"/>
          </a:p>
        </p:txBody>
      </p:sp>
      <p:sp>
        <p:nvSpPr>
          <p:cNvPr id="7" name="Text 5"/>
          <p:cNvSpPr/>
          <p:nvPr/>
        </p:nvSpPr>
        <p:spPr>
          <a:xfrm>
            <a:off x="9235440" y="4160520"/>
            <a:ext cx="2331720" cy="2286000"/>
          </a:xfrm>
          <a:prstGeom prst="rect">
            <a:avLst/>
          </a:prstGeom>
          <a:noFill/>
          <a:ln/>
        </p:spPr>
        <p:txBody>
          <a:bodyPr wrap="square" lIns="0" tIns="0" rIns="0" bIns="0" rtlCol="0" anchor="ctr"/>
          <a:lstStyle/>
          <a:p>
            <a:pPr indent="0" marL="0">
              <a:lnSpc>
                <a:spcPct val="134000"/>
              </a:lnSpc>
              <a:buNone/>
            </a:pPr>
            <a:r>
              <a:rPr lang="en-US" sz="1300" dirty="0">
                <a:solidFill>
                  <a:srgbClr val="55504C"/>
                </a:solidFill>
                <a:latin typeface="Helvetica Neue" pitchFamily="34" charset="0"/>
                <a:ea typeface="Helvetica Neue" pitchFamily="34" charset="-122"/>
                <a:cs typeface="Helvetica Neue" pitchFamily="34" charset="-120"/>
              </a:rPr>
              <a:t>Arclight pays creators in USDC the instant a genuine view is proven on Circle's Arc L1 — no tracking, no walled garden, embeddable in any player. The full stack runs end-to-end on testnet today.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6E6E6"/>
        </a:solidFill>
      </p:bgPr>
    </p:bg>
    <p:spTree>
      <p:nvGrpSpPr>
        <p:cNvPr id="1" name=""/>
        <p:cNvGrpSpPr/>
        <p:nvPr/>
      </p:nvGrpSpPr>
      <p:grpSpPr>
        <a:xfrm>
          <a:off x="0" y="0"/>
          <a:ext cx="0" cy="0"/>
          <a:chOff x="0" y="0"/>
          <a:chExt cx="0" cy="0"/>
        </a:xfrm>
      </p:grpSpPr>
      <p:sp>
        <p:nvSpPr>
          <p:cNvPr id="2" name="Text 0"/>
          <p:cNvSpPr/>
          <p:nvPr/>
        </p:nvSpPr>
        <p:spPr>
          <a:xfrm>
            <a:off x="640080" y="548640"/>
            <a:ext cx="10058400" cy="274320"/>
          </a:xfrm>
          <a:prstGeom prst="rect">
            <a:avLst/>
          </a:prstGeom>
          <a:noFill/>
          <a:ln/>
        </p:spPr>
        <p:txBody>
          <a:bodyPr wrap="square" lIns="0" tIns="0" rIns="0" bIns="0" rtlCol="0" anchor="ctr"/>
          <a:lstStyle/>
          <a:p>
            <a:pPr indent="0" marL="0">
              <a:buNone/>
            </a:pPr>
            <a:r>
              <a:rPr lang="en-US" sz="1300" spc="300" kern="0" dirty="0">
                <a:solidFill>
                  <a:srgbClr val="1A1A1A"/>
                </a:solidFill>
                <a:latin typeface="PT Mono" pitchFamily="34" charset="0"/>
                <a:ea typeface="PT Mono" pitchFamily="34" charset="-122"/>
                <a:cs typeface="PT Mono" pitchFamily="34" charset="-120"/>
              </a:rPr>
              <a:t>PROBLEMS</a:t>
            </a:r>
            <a:endParaRPr lang="en-US" sz="1300" dirty="0"/>
          </a:p>
        </p:txBody>
      </p:sp>
      <p:sp>
        <p:nvSpPr>
          <p:cNvPr id="3" name="Text 1"/>
          <p:cNvSpPr/>
          <p:nvPr/>
        </p:nvSpPr>
        <p:spPr>
          <a:xfrm>
            <a:off x="640080" y="2697480"/>
            <a:ext cx="4617720" cy="1463040"/>
          </a:xfrm>
          <a:prstGeom prst="rect">
            <a:avLst/>
          </a:prstGeom>
          <a:noFill/>
          <a:ln/>
        </p:spPr>
        <p:txBody>
          <a:bodyPr wrap="square" lIns="0" tIns="0" rIns="0" bIns="0" rtlCol="0" anchor="ctr"/>
          <a:lstStyle/>
          <a:p>
            <a:pPr algn="r" indent="0" marL="0">
              <a:lnSpc>
                <a:spcPct val="104000"/>
              </a:lnSpc>
              <a:buNone/>
            </a:pPr>
            <a:r>
              <a:rPr lang="en-US" sz="4000" b="1" dirty="0">
                <a:solidFill>
                  <a:srgbClr val="1A1A1A"/>
                </a:solidFill>
                <a:latin typeface="Helvetica Neue" pitchFamily="34" charset="0"/>
                <a:ea typeface="Helvetica Neue" pitchFamily="34" charset="-122"/>
                <a:cs typeface="Helvetica Neue" pitchFamily="34" charset="-120"/>
              </a:rPr>
              <a:t>Open video has</a:t>
            </a:r>
            <a:endParaRPr lang="en-US" sz="4000" dirty="0"/>
          </a:p>
          <a:p>
            <a:pPr algn="r" indent="0" marL="0">
              <a:lnSpc>
                <a:spcPct val="104000"/>
              </a:lnSpc>
              <a:buNone/>
            </a:pPr>
            <a:r>
              <a:rPr lang="en-US" sz="4000" b="1" dirty="0">
                <a:solidFill>
                  <a:srgbClr val="1A1A1A"/>
                </a:solidFill>
                <a:latin typeface="Helvetica Neue" pitchFamily="34" charset="0"/>
                <a:ea typeface="Helvetica Neue" pitchFamily="34" charset="-122"/>
                <a:cs typeface="Helvetica Neue" pitchFamily="34" charset="-120"/>
              </a:rPr>
              <a:t>the audience</a:t>
            </a:r>
            <a:endParaRPr lang="en-US" sz="4000" dirty="0"/>
          </a:p>
        </p:txBody>
      </p:sp>
      <p:sp>
        <p:nvSpPr>
          <p:cNvPr id="4" name="Shape 2"/>
          <p:cNvSpPr/>
          <p:nvPr/>
        </p:nvSpPr>
        <p:spPr>
          <a:xfrm>
            <a:off x="5605272" y="3035808"/>
            <a:ext cx="978408" cy="786384"/>
          </a:xfrm>
          <a:prstGeom prst="line">
            <a:avLst/>
          </a:prstGeom>
          <a:noFill/>
          <a:ln w="28575">
            <a:solidFill>
              <a:srgbClr val="E8492B"/>
            </a:solidFill>
            <a:prstDash val="solid"/>
          </a:ln>
        </p:spPr>
      </p:sp>
      <p:sp>
        <p:nvSpPr>
          <p:cNvPr id="5" name="Shape 3"/>
          <p:cNvSpPr/>
          <p:nvPr/>
        </p:nvSpPr>
        <p:spPr>
          <a:xfrm>
            <a:off x="5605272" y="3822192"/>
            <a:ext cx="978408" cy="-786384"/>
          </a:xfrm>
          <a:prstGeom prst="line">
            <a:avLst/>
          </a:prstGeom>
          <a:noFill/>
          <a:ln w="28575">
            <a:solidFill>
              <a:srgbClr val="E8492B"/>
            </a:solidFill>
            <a:prstDash val="solid"/>
          </a:ln>
        </p:spPr>
      </p:sp>
      <p:sp>
        <p:nvSpPr>
          <p:cNvPr id="6" name="Text 4"/>
          <p:cNvSpPr/>
          <p:nvPr/>
        </p:nvSpPr>
        <p:spPr>
          <a:xfrm>
            <a:off x="6949440" y="2697480"/>
            <a:ext cx="4617720" cy="1463040"/>
          </a:xfrm>
          <a:prstGeom prst="rect">
            <a:avLst/>
          </a:prstGeom>
          <a:noFill/>
          <a:ln/>
        </p:spPr>
        <p:txBody>
          <a:bodyPr wrap="square" lIns="0" tIns="0" rIns="0" bIns="0" rtlCol="0" anchor="ctr"/>
          <a:lstStyle/>
          <a:p>
            <a:pPr algn="l" indent="0" marL="0">
              <a:lnSpc>
                <a:spcPct val="104000"/>
              </a:lnSpc>
              <a:buNone/>
            </a:pPr>
            <a:r>
              <a:rPr lang="en-US" sz="4000" b="1" dirty="0">
                <a:solidFill>
                  <a:srgbClr val="1A1A1A"/>
                </a:solidFill>
                <a:latin typeface="Helvetica Neue" pitchFamily="34" charset="0"/>
                <a:ea typeface="Helvetica Neue" pitchFamily="34" charset="-122"/>
                <a:cs typeface="Helvetica Neue" pitchFamily="34" charset="-120"/>
              </a:rPr>
              <a:t>the pay rails</a:t>
            </a:r>
            <a:endParaRPr lang="en-US" sz="4000" dirty="0"/>
          </a:p>
          <a:p>
            <a:pPr algn="l" indent="0" marL="0">
              <a:lnSpc>
                <a:spcPct val="104000"/>
              </a:lnSpc>
              <a:buNone/>
            </a:pPr>
            <a:r>
              <a:rPr lang="en-US" sz="4000" b="1" dirty="0">
                <a:solidFill>
                  <a:srgbClr val="1A1A1A"/>
                </a:solidFill>
                <a:latin typeface="Helvetica Neue" pitchFamily="34" charset="0"/>
                <a:ea typeface="Helvetica Neue" pitchFamily="34" charset="-122"/>
                <a:cs typeface="Helvetica Neue" pitchFamily="34" charset="-120"/>
              </a:rPr>
              <a:t>stop at the wall</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5486400" cy="274320"/>
          </a:xfrm>
          <a:prstGeom prst="rect">
            <a:avLst/>
          </a:prstGeom>
          <a:noFill/>
          <a:ln/>
        </p:spPr>
        <p:txBody>
          <a:bodyPr wrap="square" lIns="0" tIns="0" rIns="0" bIns="0" rtlCol="0" anchor="ctr"/>
          <a:lstStyle/>
          <a:p>
            <a:pPr indent="0" marL="0">
              <a:buNone/>
            </a:pPr>
            <a:r>
              <a:rPr lang="en-US" sz="1250" spc="200" kern="0" dirty="0">
                <a:solidFill>
                  <a:srgbClr val="1A1A1A"/>
                </a:solidFill>
                <a:latin typeface="PT Mono" pitchFamily="34" charset="0"/>
                <a:ea typeface="PT Mono" pitchFamily="34" charset="-122"/>
                <a:cs typeface="PT Mono" pitchFamily="34" charset="-120"/>
              </a:rPr>
              <a:t>PROBLEMS</a:t>
            </a:r>
            <a:endParaRPr lang="en-US" sz="1250" dirty="0"/>
          </a:p>
        </p:txBody>
      </p:sp>
      <p:sp>
        <p:nvSpPr>
          <p:cNvPr id="3" name="Text 1"/>
          <p:cNvSpPr/>
          <p:nvPr/>
        </p:nvSpPr>
        <p:spPr>
          <a:xfrm>
            <a:off x="502920" y="950976"/>
            <a:ext cx="3246120" cy="640080"/>
          </a:xfrm>
          <a:prstGeom prst="rect">
            <a:avLst/>
          </a:prstGeom>
          <a:noFill/>
          <a:ln/>
        </p:spPr>
        <p:txBody>
          <a:bodyPr wrap="square" lIns="0" tIns="0" rIns="0" bIns="0" rtlCol="0" anchor="ctr"/>
          <a:lstStyle/>
          <a:p>
            <a:pPr indent="0" marL="0">
              <a:lnSpc>
                <a:spcPct val="112000"/>
              </a:lnSpc>
              <a:buNone/>
            </a:pPr>
            <a:r>
              <a:rPr lang="en-US" sz="1250" b="1" spc="50" kern="0" dirty="0">
                <a:solidFill>
                  <a:srgbClr val="1A1A1A"/>
                </a:solidFill>
                <a:latin typeface="PT Mono" pitchFamily="34" charset="0"/>
                <a:ea typeface="PT Mono" pitchFamily="34" charset="-122"/>
                <a:cs typeface="PT Mono" pitchFamily="34" charset="-120"/>
              </a:rPr>
              <a:t>MINIMUM FEE TO SETTLE A SINGLE PAYMENT, BY RAIL</a:t>
            </a:r>
            <a:endParaRPr lang="en-US" sz="1250" dirty="0"/>
          </a:p>
        </p:txBody>
      </p:sp>
      <p:sp>
        <p:nvSpPr>
          <p:cNvPr id="4" name="Text 2"/>
          <p:cNvSpPr/>
          <p:nvPr/>
        </p:nvSpPr>
        <p:spPr>
          <a:xfrm>
            <a:off x="502920" y="1783080"/>
            <a:ext cx="3246120" cy="457200"/>
          </a:xfrm>
          <a:prstGeom prst="rect">
            <a:avLst/>
          </a:prstGeom>
          <a:noFill/>
          <a:ln/>
        </p:spPr>
        <p:txBody>
          <a:bodyPr wrap="square" lIns="0" tIns="0" rIns="0" bIns="0" rtlCol="0" anchor="ctr"/>
          <a:lstStyle/>
          <a:p>
            <a:pPr indent="0" marL="0">
              <a:lnSpc>
                <a:spcPct val="125000"/>
              </a:lnSpc>
              <a:buNone/>
            </a:pPr>
            <a:r>
              <a:rPr lang="en-US" sz="1250" dirty="0">
                <a:solidFill>
                  <a:srgbClr val="8A8A8A"/>
                </a:solidFill>
                <a:latin typeface="Helvetica Neue" pitchFamily="34" charset="0"/>
                <a:ea typeface="Helvetica Neue" pitchFamily="34" charset="-122"/>
                <a:cs typeface="Helvetica Neue" pitchFamily="34" charset="-120"/>
              </a:rPr>
              <a:t>Source: Visa, Mastercard, PayPal &amp; ACH published rates (2024)</a:t>
            </a:r>
            <a:endParaRPr lang="en-US" sz="1250" dirty="0"/>
          </a:p>
        </p:txBody>
      </p:sp>
      <p:sp>
        <p:nvSpPr>
          <p:cNvPr id="5" name="Shape 3"/>
          <p:cNvSpPr/>
          <p:nvPr/>
        </p:nvSpPr>
        <p:spPr>
          <a:xfrm>
            <a:off x="0" y="2331720"/>
            <a:ext cx="3703320" cy="4526280"/>
          </a:xfrm>
          <a:prstGeom prst="rect">
            <a:avLst/>
          </a:prstGeom>
          <a:solidFill>
            <a:srgbClr val="E8492B"/>
          </a:solidFill>
          <a:ln/>
        </p:spPr>
      </p:sp>
      <p:sp>
        <p:nvSpPr>
          <p:cNvPr id="6" name="Text 4"/>
          <p:cNvSpPr/>
          <p:nvPr/>
        </p:nvSpPr>
        <p:spPr>
          <a:xfrm>
            <a:off x="502920" y="2331720"/>
            <a:ext cx="3108960" cy="4526280"/>
          </a:xfrm>
          <a:prstGeom prst="rect">
            <a:avLst/>
          </a:prstGeom>
          <a:noFill/>
          <a:ln/>
        </p:spPr>
        <p:txBody>
          <a:bodyPr wrap="square" lIns="0" tIns="0" rIns="0" bIns="0" rtlCol="0" anchor="ctr"/>
          <a:lstStyle/>
          <a:p>
            <a:pPr indent="0" marL="0">
              <a:lnSpc>
                <a:spcPct val="105000"/>
              </a:lnSpc>
              <a:buNone/>
            </a:pPr>
            <a:r>
              <a:rPr lang="en-US" sz="3300" b="1" dirty="0">
                <a:solidFill>
                  <a:srgbClr val="FFFFFF"/>
                </a:solidFill>
                <a:latin typeface="Helvetica Neue" pitchFamily="34" charset="0"/>
                <a:ea typeface="Helvetica Neue" pitchFamily="34" charset="-122"/>
                <a:cs typeface="Helvetica Neue" pitchFamily="34" charset="-120"/>
              </a:rPr>
              <a:t>The cost of</a:t>
            </a:r>
            <a:endParaRPr lang="en-US" sz="3300" dirty="0"/>
          </a:p>
          <a:p>
            <a:pPr indent="0" marL="0">
              <a:lnSpc>
                <a:spcPct val="105000"/>
              </a:lnSpc>
              <a:buNone/>
            </a:pPr>
            <a:r>
              <a:rPr lang="en-US" sz="3300" b="1" dirty="0">
                <a:solidFill>
                  <a:srgbClr val="FFFFFF"/>
                </a:solidFill>
                <a:latin typeface="Helvetica Neue" pitchFamily="34" charset="0"/>
                <a:ea typeface="Helvetica Neue" pitchFamily="34" charset="-122"/>
                <a:cs typeface="Helvetica Neue" pitchFamily="34" charset="-120"/>
              </a:rPr>
              <a:t>a micropayment</a:t>
            </a:r>
            <a:endParaRPr lang="en-US" sz="3300" dirty="0"/>
          </a:p>
        </p:txBody>
      </p:sp>
      <p:sp>
        <p:nvSpPr>
          <p:cNvPr id="7" name="Shape 5"/>
          <p:cNvSpPr/>
          <p:nvPr/>
        </p:nvSpPr>
        <p:spPr>
          <a:xfrm>
            <a:off x="3977640" y="0"/>
            <a:ext cx="0" cy="6858000"/>
          </a:xfrm>
          <a:prstGeom prst="line">
            <a:avLst/>
          </a:prstGeom>
          <a:noFill/>
          <a:ln w="9525">
            <a:solidFill>
              <a:srgbClr val="ECECEC"/>
            </a:solidFill>
            <a:prstDash val="solid"/>
          </a:ln>
        </p:spPr>
      </p:sp>
      <p:sp>
        <p:nvSpPr>
          <p:cNvPr id="8" name="Shape 6"/>
          <p:cNvSpPr/>
          <p:nvPr/>
        </p:nvSpPr>
        <p:spPr>
          <a:xfrm>
            <a:off x="5620451" y="0"/>
            <a:ext cx="0" cy="6858000"/>
          </a:xfrm>
          <a:prstGeom prst="line">
            <a:avLst/>
          </a:prstGeom>
          <a:noFill/>
          <a:ln w="9525">
            <a:solidFill>
              <a:srgbClr val="ECECEC"/>
            </a:solidFill>
            <a:prstDash val="solid"/>
          </a:ln>
        </p:spPr>
      </p:sp>
      <p:sp>
        <p:nvSpPr>
          <p:cNvPr id="9" name="Shape 7"/>
          <p:cNvSpPr/>
          <p:nvPr/>
        </p:nvSpPr>
        <p:spPr>
          <a:xfrm>
            <a:off x="7263262" y="0"/>
            <a:ext cx="0" cy="6858000"/>
          </a:xfrm>
          <a:prstGeom prst="line">
            <a:avLst/>
          </a:prstGeom>
          <a:noFill/>
          <a:ln w="9525">
            <a:solidFill>
              <a:srgbClr val="ECECEC"/>
            </a:solidFill>
            <a:prstDash val="solid"/>
          </a:ln>
        </p:spPr>
      </p:sp>
      <p:sp>
        <p:nvSpPr>
          <p:cNvPr id="10" name="Shape 8"/>
          <p:cNvSpPr/>
          <p:nvPr/>
        </p:nvSpPr>
        <p:spPr>
          <a:xfrm>
            <a:off x="8906073" y="0"/>
            <a:ext cx="0" cy="6858000"/>
          </a:xfrm>
          <a:prstGeom prst="line">
            <a:avLst/>
          </a:prstGeom>
          <a:noFill/>
          <a:ln w="9525">
            <a:solidFill>
              <a:srgbClr val="ECECEC"/>
            </a:solidFill>
            <a:prstDash val="solid"/>
          </a:ln>
        </p:spPr>
      </p:sp>
      <p:sp>
        <p:nvSpPr>
          <p:cNvPr id="11" name="Shape 9"/>
          <p:cNvSpPr/>
          <p:nvPr/>
        </p:nvSpPr>
        <p:spPr>
          <a:xfrm>
            <a:off x="10548884" y="0"/>
            <a:ext cx="0" cy="6858000"/>
          </a:xfrm>
          <a:prstGeom prst="line">
            <a:avLst/>
          </a:prstGeom>
          <a:noFill/>
          <a:ln w="9525">
            <a:solidFill>
              <a:srgbClr val="ECECEC"/>
            </a:solidFill>
            <a:prstDash val="solid"/>
          </a:ln>
        </p:spPr>
      </p:sp>
      <p:sp>
        <p:nvSpPr>
          <p:cNvPr id="12" name="Shape 10"/>
          <p:cNvSpPr/>
          <p:nvPr/>
        </p:nvSpPr>
        <p:spPr>
          <a:xfrm>
            <a:off x="12191695" y="0"/>
            <a:ext cx="0" cy="6858000"/>
          </a:xfrm>
          <a:prstGeom prst="line">
            <a:avLst/>
          </a:prstGeom>
          <a:noFill/>
          <a:ln w="9525">
            <a:solidFill>
              <a:srgbClr val="ECECEC"/>
            </a:solidFill>
            <a:prstDash val="solid"/>
          </a:ln>
        </p:spPr>
      </p:sp>
      <p:sp>
        <p:nvSpPr>
          <p:cNvPr id="13" name="Shape 11"/>
          <p:cNvSpPr/>
          <p:nvPr/>
        </p:nvSpPr>
        <p:spPr>
          <a:xfrm>
            <a:off x="3977640" y="1463040"/>
            <a:ext cx="8214055" cy="0"/>
          </a:xfrm>
          <a:prstGeom prst="line">
            <a:avLst/>
          </a:prstGeom>
          <a:noFill/>
          <a:ln w="9525">
            <a:solidFill>
              <a:srgbClr val="F0F0F0"/>
            </a:solidFill>
            <a:prstDash val="solid"/>
          </a:ln>
        </p:spPr>
      </p:sp>
      <p:sp>
        <p:nvSpPr>
          <p:cNvPr id="14" name="Shape 12"/>
          <p:cNvSpPr/>
          <p:nvPr/>
        </p:nvSpPr>
        <p:spPr>
          <a:xfrm>
            <a:off x="3977640" y="2743200"/>
            <a:ext cx="8214055" cy="0"/>
          </a:xfrm>
          <a:prstGeom prst="line">
            <a:avLst/>
          </a:prstGeom>
          <a:noFill/>
          <a:ln w="9525">
            <a:solidFill>
              <a:srgbClr val="F0F0F0"/>
            </a:solidFill>
            <a:prstDash val="solid"/>
          </a:ln>
        </p:spPr>
      </p:sp>
      <p:sp>
        <p:nvSpPr>
          <p:cNvPr id="15" name="Shape 13"/>
          <p:cNvSpPr/>
          <p:nvPr/>
        </p:nvSpPr>
        <p:spPr>
          <a:xfrm>
            <a:off x="3977640" y="4023360"/>
            <a:ext cx="8214055" cy="0"/>
          </a:xfrm>
          <a:prstGeom prst="line">
            <a:avLst/>
          </a:prstGeom>
          <a:noFill/>
          <a:ln w="9525">
            <a:solidFill>
              <a:srgbClr val="F0F0F0"/>
            </a:solidFill>
            <a:prstDash val="solid"/>
          </a:ln>
        </p:spPr>
      </p:sp>
      <p:sp>
        <p:nvSpPr>
          <p:cNvPr id="16" name="Shape 14"/>
          <p:cNvSpPr/>
          <p:nvPr/>
        </p:nvSpPr>
        <p:spPr>
          <a:xfrm>
            <a:off x="3977640" y="5303520"/>
            <a:ext cx="8214055" cy="0"/>
          </a:xfrm>
          <a:prstGeom prst="line">
            <a:avLst/>
          </a:prstGeom>
          <a:noFill/>
          <a:ln w="9525">
            <a:solidFill>
              <a:srgbClr val="F0F0F0"/>
            </a:solidFill>
            <a:prstDash val="solid"/>
          </a:ln>
        </p:spPr>
      </p:sp>
      <p:sp>
        <p:nvSpPr>
          <p:cNvPr id="17" name="Shape 15"/>
          <p:cNvSpPr/>
          <p:nvPr/>
        </p:nvSpPr>
        <p:spPr>
          <a:xfrm>
            <a:off x="4014216" y="2380129"/>
            <a:ext cx="1569659" cy="4477871"/>
          </a:xfrm>
          <a:prstGeom prst="rect">
            <a:avLst/>
          </a:prstGeom>
          <a:solidFill>
            <a:srgbClr val="7CC5E8"/>
          </a:solidFill>
          <a:ln/>
        </p:spPr>
      </p:sp>
      <p:sp>
        <p:nvSpPr>
          <p:cNvPr id="18" name="Text 16"/>
          <p:cNvSpPr/>
          <p:nvPr/>
        </p:nvSpPr>
        <p:spPr>
          <a:xfrm>
            <a:off x="4014216" y="1520593"/>
            <a:ext cx="1642811" cy="274320"/>
          </a:xfrm>
          <a:prstGeom prst="rect">
            <a:avLst/>
          </a:prstGeom>
          <a:noFill/>
          <a:ln/>
        </p:spPr>
        <p:txBody>
          <a:bodyPr wrap="square" lIns="0" tIns="0" rIns="0" bIns="0" rtlCol="0" anchor="ctr"/>
          <a:lstStyle/>
          <a:p>
            <a:pPr indent="0" marL="0">
              <a:buNone/>
            </a:pPr>
            <a:r>
              <a:rPr lang="en-US" sz="1500" dirty="0">
                <a:solidFill>
                  <a:srgbClr val="8A8A8A"/>
                </a:solidFill>
                <a:latin typeface="Helvetica Neue" pitchFamily="34" charset="0"/>
                <a:ea typeface="Helvetica Neue" pitchFamily="34" charset="-122"/>
                <a:cs typeface="Helvetica Neue" pitchFamily="34" charset="-120"/>
              </a:rPr>
              <a:t>Visa / Mastercard</a:t>
            </a:r>
            <a:endParaRPr lang="en-US" sz="1500" dirty="0"/>
          </a:p>
        </p:txBody>
      </p:sp>
      <p:sp>
        <p:nvSpPr>
          <p:cNvPr id="19" name="Text 17"/>
          <p:cNvSpPr/>
          <p:nvPr/>
        </p:nvSpPr>
        <p:spPr>
          <a:xfrm>
            <a:off x="4014216" y="1794913"/>
            <a:ext cx="1642811" cy="457200"/>
          </a:xfrm>
          <a:prstGeom prst="rect">
            <a:avLst/>
          </a:prstGeom>
          <a:noFill/>
          <a:ln/>
        </p:spPr>
        <p:txBody>
          <a:bodyPr wrap="square" lIns="0" tIns="0" rIns="0" bIns="0" rtlCol="0" anchor="ctr"/>
          <a:lstStyle/>
          <a:p>
            <a:pPr indent="0" marL="0">
              <a:buNone/>
            </a:pPr>
            <a:r>
              <a:rPr lang="en-US" sz="3000" dirty="0">
                <a:solidFill>
                  <a:srgbClr val="1A1A1A"/>
                </a:solidFill>
                <a:latin typeface="Helvetica Neue" pitchFamily="34" charset="0"/>
                <a:ea typeface="Helvetica Neue" pitchFamily="34" charset="-122"/>
                <a:cs typeface="Helvetica Neue" pitchFamily="34" charset="-120"/>
              </a:rPr>
              <a:t>$0.30</a:t>
            </a:r>
            <a:endParaRPr lang="en-US" sz="3000" dirty="0"/>
          </a:p>
        </p:txBody>
      </p:sp>
      <p:sp>
        <p:nvSpPr>
          <p:cNvPr id="20" name="Shape 18"/>
          <p:cNvSpPr/>
          <p:nvPr/>
        </p:nvSpPr>
        <p:spPr>
          <a:xfrm>
            <a:off x="5657027" y="1783080"/>
            <a:ext cx="1569659" cy="5074920"/>
          </a:xfrm>
          <a:prstGeom prst="rect">
            <a:avLst/>
          </a:prstGeom>
          <a:solidFill>
            <a:srgbClr val="7CC5E8"/>
          </a:solidFill>
          <a:ln/>
        </p:spPr>
      </p:sp>
      <p:sp>
        <p:nvSpPr>
          <p:cNvPr id="21" name="Text 19"/>
          <p:cNvSpPr/>
          <p:nvPr/>
        </p:nvSpPr>
        <p:spPr>
          <a:xfrm>
            <a:off x="5657027" y="923544"/>
            <a:ext cx="1642811" cy="274320"/>
          </a:xfrm>
          <a:prstGeom prst="rect">
            <a:avLst/>
          </a:prstGeom>
          <a:noFill/>
          <a:ln/>
        </p:spPr>
        <p:txBody>
          <a:bodyPr wrap="square" lIns="0" tIns="0" rIns="0" bIns="0" rtlCol="0" anchor="ctr"/>
          <a:lstStyle/>
          <a:p>
            <a:pPr indent="0" marL="0">
              <a:buNone/>
            </a:pPr>
            <a:r>
              <a:rPr lang="en-US" sz="1500" dirty="0">
                <a:solidFill>
                  <a:srgbClr val="8A8A8A"/>
                </a:solidFill>
                <a:latin typeface="Helvetica Neue" pitchFamily="34" charset="0"/>
                <a:ea typeface="Helvetica Neue" pitchFamily="34" charset="-122"/>
                <a:cs typeface="Helvetica Neue" pitchFamily="34" charset="-120"/>
              </a:rPr>
              <a:t>PayPal</a:t>
            </a:r>
            <a:endParaRPr lang="en-US" sz="1500" dirty="0"/>
          </a:p>
        </p:txBody>
      </p:sp>
      <p:sp>
        <p:nvSpPr>
          <p:cNvPr id="22" name="Text 20"/>
          <p:cNvSpPr/>
          <p:nvPr/>
        </p:nvSpPr>
        <p:spPr>
          <a:xfrm>
            <a:off x="5657027" y="1197864"/>
            <a:ext cx="1642811" cy="457200"/>
          </a:xfrm>
          <a:prstGeom prst="rect">
            <a:avLst/>
          </a:prstGeom>
          <a:noFill/>
          <a:ln/>
        </p:spPr>
        <p:txBody>
          <a:bodyPr wrap="square" lIns="0" tIns="0" rIns="0" bIns="0" rtlCol="0" anchor="ctr"/>
          <a:lstStyle/>
          <a:p>
            <a:pPr indent="0" marL="0">
              <a:buNone/>
            </a:pPr>
            <a:r>
              <a:rPr lang="en-US" sz="3000" dirty="0">
                <a:solidFill>
                  <a:srgbClr val="1A1A1A"/>
                </a:solidFill>
                <a:latin typeface="Helvetica Neue" pitchFamily="34" charset="0"/>
                <a:ea typeface="Helvetica Neue" pitchFamily="34" charset="-122"/>
                <a:cs typeface="Helvetica Neue" pitchFamily="34" charset="-120"/>
              </a:rPr>
              <a:t>$0.34</a:t>
            </a:r>
            <a:endParaRPr lang="en-US" sz="3000" dirty="0"/>
          </a:p>
        </p:txBody>
      </p:sp>
      <p:sp>
        <p:nvSpPr>
          <p:cNvPr id="23" name="Shape 21"/>
          <p:cNvSpPr/>
          <p:nvPr/>
        </p:nvSpPr>
        <p:spPr>
          <a:xfrm>
            <a:off x="7299838" y="1932342"/>
            <a:ext cx="1569659" cy="4925658"/>
          </a:xfrm>
          <a:prstGeom prst="rect">
            <a:avLst/>
          </a:prstGeom>
          <a:solidFill>
            <a:srgbClr val="7CC5E8"/>
          </a:solidFill>
          <a:ln/>
        </p:spPr>
      </p:sp>
      <p:sp>
        <p:nvSpPr>
          <p:cNvPr id="24" name="Text 22"/>
          <p:cNvSpPr/>
          <p:nvPr/>
        </p:nvSpPr>
        <p:spPr>
          <a:xfrm>
            <a:off x="7299838" y="1072806"/>
            <a:ext cx="1642811" cy="274320"/>
          </a:xfrm>
          <a:prstGeom prst="rect">
            <a:avLst/>
          </a:prstGeom>
          <a:noFill/>
          <a:ln/>
        </p:spPr>
        <p:txBody>
          <a:bodyPr wrap="square" lIns="0" tIns="0" rIns="0" bIns="0" rtlCol="0" anchor="ctr"/>
          <a:lstStyle/>
          <a:p>
            <a:pPr indent="0" marL="0">
              <a:buNone/>
            </a:pPr>
            <a:r>
              <a:rPr lang="en-US" sz="1500" dirty="0">
                <a:solidFill>
                  <a:srgbClr val="8A8A8A"/>
                </a:solidFill>
                <a:latin typeface="Helvetica Neue" pitchFamily="34" charset="0"/>
                <a:ea typeface="Helvetica Neue" pitchFamily="34" charset="-122"/>
                <a:cs typeface="Helvetica Neue" pitchFamily="34" charset="-120"/>
              </a:rPr>
              <a:t>Stripe</a:t>
            </a:r>
            <a:endParaRPr lang="en-US" sz="1500" dirty="0"/>
          </a:p>
        </p:txBody>
      </p:sp>
      <p:sp>
        <p:nvSpPr>
          <p:cNvPr id="25" name="Text 23"/>
          <p:cNvSpPr/>
          <p:nvPr/>
        </p:nvSpPr>
        <p:spPr>
          <a:xfrm>
            <a:off x="7299838" y="1347126"/>
            <a:ext cx="1642811" cy="457200"/>
          </a:xfrm>
          <a:prstGeom prst="rect">
            <a:avLst/>
          </a:prstGeom>
          <a:noFill/>
          <a:ln/>
        </p:spPr>
        <p:txBody>
          <a:bodyPr wrap="square" lIns="0" tIns="0" rIns="0" bIns="0" rtlCol="0" anchor="ctr"/>
          <a:lstStyle/>
          <a:p>
            <a:pPr indent="0" marL="0">
              <a:buNone/>
            </a:pPr>
            <a:r>
              <a:rPr lang="en-US" sz="3000" dirty="0">
                <a:solidFill>
                  <a:srgbClr val="1A1A1A"/>
                </a:solidFill>
                <a:latin typeface="Helvetica Neue" pitchFamily="34" charset="0"/>
                <a:ea typeface="Helvetica Neue" pitchFamily="34" charset="-122"/>
                <a:cs typeface="Helvetica Neue" pitchFamily="34" charset="-120"/>
              </a:rPr>
              <a:t>$0.33</a:t>
            </a:r>
            <a:endParaRPr lang="en-US" sz="3000" dirty="0"/>
          </a:p>
        </p:txBody>
      </p:sp>
      <p:sp>
        <p:nvSpPr>
          <p:cNvPr id="26" name="Shape 24"/>
          <p:cNvSpPr/>
          <p:nvPr/>
        </p:nvSpPr>
        <p:spPr>
          <a:xfrm>
            <a:off x="8942649" y="3126441"/>
            <a:ext cx="1569659" cy="3731559"/>
          </a:xfrm>
          <a:prstGeom prst="rect">
            <a:avLst/>
          </a:prstGeom>
          <a:solidFill>
            <a:srgbClr val="7CC5E8"/>
          </a:solidFill>
          <a:ln/>
        </p:spPr>
      </p:sp>
      <p:sp>
        <p:nvSpPr>
          <p:cNvPr id="27" name="Text 25"/>
          <p:cNvSpPr/>
          <p:nvPr/>
        </p:nvSpPr>
        <p:spPr>
          <a:xfrm>
            <a:off x="8942649" y="2266905"/>
            <a:ext cx="1642811" cy="274320"/>
          </a:xfrm>
          <a:prstGeom prst="rect">
            <a:avLst/>
          </a:prstGeom>
          <a:noFill/>
          <a:ln/>
        </p:spPr>
        <p:txBody>
          <a:bodyPr wrap="square" lIns="0" tIns="0" rIns="0" bIns="0" rtlCol="0" anchor="ctr"/>
          <a:lstStyle/>
          <a:p>
            <a:pPr indent="0" marL="0">
              <a:buNone/>
            </a:pPr>
            <a:r>
              <a:rPr lang="en-US" sz="1500" dirty="0">
                <a:solidFill>
                  <a:srgbClr val="8A8A8A"/>
                </a:solidFill>
                <a:latin typeface="Helvetica Neue" pitchFamily="34" charset="0"/>
                <a:ea typeface="Helvetica Neue" pitchFamily="34" charset="-122"/>
                <a:cs typeface="Helvetica Neue" pitchFamily="34" charset="-120"/>
              </a:rPr>
              <a:t>ACH / bank</a:t>
            </a:r>
            <a:endParaRPr lang="en-US" sz="1500" dirty="0"/>
          </a:p>
        </p:txBody>
      </p:sp>
      <p:sp>
        <p:nvSpPr>
          <p:cNvPr id="28" name="Text 26"/>
          <p:cNvSpPr/>
          <p:nvPr/>
        </p:nvSpPr>
        <p:spPr>
          <a:xfrm>
            <a:off x="8942649" y="2541225"/>
            <a:ext cx="1642811" cy="457200"/>
          </a:xfrm>
          <a:prstGeom prst="rect">
            <a:avLst/>
          </a:prstGeom>
          <a:noFill/>
          <a:ln/>
        </p:spPr>
        <p:txBody>
          <a:bodyPr wrap="square" lIns="0" tIns="0" rIns="0" bIns="0" rtlCol="0" anchor="ctr"/>
          <a:lstStyle/>
          <a:p>
            <a:pPr indent="0" marL="0">
              <a:buNone/>
            </a:pPr>
            <a:r>
              <a:rPr lang="en-US" sz="3000" dirty="0">
                <a:solidFill>
                  <a:srgbClr val="1A1A1A"/>
                </a:solidFill>
                <a:latin typeface="Helvetica Neue" pitchFamily="34" charset="0"/>
                <a:ea typeface="Helvetica Neue" pitchFamily="34" charset="-122"/>
                <a:cs typeface="Helvetica Neue" pitchFamily="34" charset="-120"/>
              </a:rPr>
              <a:t>$0.25</a:t>
            </a:r>
            <a:endParaRPr lang="en-US" sz="3000" dirty="0"/>
          </a:p>
        </p:txBody>
      </p:sp>
      <p:sp>
        <p:nvSpPr>
          <p:cNvPr id="29" name="Shape 27"/>
          <p:cNvSpPr/>
          <p:nvPr/>
        </p:nvSpPr>
        <p:spPr>
          <a:xfrm>
            <a:off x="10585460" y="5989320"/>
            <a:ext cx="1569659" cy="868680"/>
          </a:xfrm>
          <a:prstGeom prst="rect">
            <a:avLst/>
          </a:prstGeom>
          <a:solidFill>
            <a:srgbClr val="E8492B"/>
          </a:solidFill>
          <a:ln/>
        </p:spPr>
      </p:sp>
      <p:sp>
        <p:nvSpPr>
          <p:cNvPr id="30" name="Text 28"/>
          <p:cNvSpPr/>
          <p:nvPr/>
        </p:nvSpPr>
        <p:spPr>
          <a:xfrm>
            <a:off x="10585460" y="5129784"/>
            <a:ext cx="1642811" cy="274320"/>
          </a:xfrm>
          <a:prstGeom prst="rect">
            <a:avLst/>
          </a:prstGeom>
          <a:noFill/>
          <a:ln/>
        </p:spPr>
        <p:txBody>
          <a:bodyPr wrap="square" lIns="0" tIns="0" rIns="0" bIns="0" rtlCol="0" anchor="ctr"/>
          <a:lstStyle/>
          <a:p>
            <a:pPr indent="0" marL="0">
              <a:buNone/>
            </a:pPr>
            <a:r>
              <a:rPr lang="en-US" sz="1500" dirty="0">
                <a:solidFill>
                  <a:srgbClr val="E8492B"/>
                </a:solidFill>
                <a:latin typeface="Helvetica Neue" pitchFamily="34" charset="0"/>
                <a:ea typeface="Helvetica Neue" pitchFamily="34" charset="-122"/>
                <a:cs typeface="Helvetica Neue" pitchFamily="34" charset="-120"/>
              </a:rPr>
              <a:t>Arclight on Arc</a:t>
            </a:r>
            <a:endParaRPr lang="en-US" sz="1500" dirty="0"/>
          </a:p>
        </p:txBody>
      </p:sp>
      <p:sp>
        <p:nvSpPr>
          <p:cNvPr id="31" name="Text 29"/>
          <p:cNvSpPr/>
          <p:nvPr/>
        </p:nvSpPr>
        <p:spPr>
          <a:xfrm>
            <a:off x="10585460" y="5404104"/>
            <a:ext cx="1642811" cy="457200"/>
          </a:xfrm>
          <a:prstGeom prst="rect">
            <a:avLst/>
          </a:prstGeom>
          <a:noFill/>
          <a:ln/>
        </p:spPr>
        <p:txBody>
          <a:bodyPr wrap="square" lIns="0" tIns="0" rIns="0" bIns="0" rtlCol="0" anchor="ctr"/>
          <a:lstStyle/>
          <a:p>
            <a:pPr indent="0" marL="0">
              <a:buNone/>
            </a:pPr>
            <a:r>
              <a:rPr lang="en-US" sz="3000" b="1" dirty="0">
                <a:solidFill>
                  <a:srgbClr val="E8492B"/>
                </a:solidFill>
                <a:latin typeface="Helvetica Neue" pitchFamily="34" charset="0"/>
                <a:ea typeface="Helvetica Neue" pitchFamily="34" charset="-122"/>
                <a:cs typeface="Helvetica Neue" pitchFamily="34" charset="-120"/>
              </a:rPr>
              <a:t>&lt;$0.001</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35040" cy="6858000"/>
          </a:xfrm>
          <a:prstGeom prst="rect">
            <a:avLst/>
          </a:prstGeom>
          <a:solidFill>
            <a:srgbClr val="FAD9D2"/>
          </a:solidFill>
          <a:ln/>
        </p:spPr>
      </p:sp>
      <p:pic>
        <p:nvPicPr>
          <p:cNvPr id="3" name="Image 0" descr="preencoded.png">    </p:cNvPr>
          <p:cNvPicPr>
            <a:picLocks noChangeAspect="1"/>
          </p:cNvPicPr>
          <p:nvPr/>
        </p:nvPicPr>
        <p:blipFill>
          <a:blip r:embed="rId1"/>
          <a:stretch>
            <a:fillRect/>
          </a:stretch>
        </p:blipFill>
        <p:spPr>
          <a:xfrm>
            <a:off x="45720" y="4114800"/>
            <a:ext cx="3931920" cy="3611880"/>
          </a:xfrm>
          <a:prstGeom prst="rect">
            <a:avLst/>
          </a:prstGeom>
        </p:spPr>
      </p:pic>
      <p:sp>
        <p:nvSpPr>
          <p:cNvPr id="4" name="Text 1"/>
          <p:cNvSpPr/>
          <p:nvPr/>
        </p:nvSpPr>
        <p:spPr>
          <a:xfrm>
            <a:off x="640080" y="548640"/>
            <a:ext cx="10058400" cy="274320"/>
          </a:xfrm>
          <a:prstGeom prst="rect">
            <a:avLst/>
          </a:prstGeom>
          <a:noFill/>
          <a:ln/>
        </p:spPr>
        <p:txBody>
          <a:bodyPr wrap="square" lIns="0" tIns="0" rIns="0" bIns="0" rtlCol="0" anchor="ctr"/>
          <a:lstStyle/>
          <a:p>
            <a:pPr indent="0" marL="0">
              <a:buNone/>
            </a:pPr>
            <a:r>
              <a:rPr lang="en-US" sz="1300" spc="300" kern="0" dirty="0">
                <a:solidFill>
                  <a:srgbClr val="1A1A1A"/>
                </a:solidFill>
                <a:latin typeface="PT Mono" pitchFamily="34" charset="0"/>
                <a:ea typeface="PT Mono" pitchFamily="34" charset="-122"/>
                <a:cs typeface="PT Mono" pitchFamily="34" charset="-120"/>
              </a:rPr>
              <a:t>SOLUTION 1.0</a:t>
            </a:r>
            <a:endParaRPr lang="en-US" sz="1300" dirty="0"/>
          </a:p>
        </p:txBody>
      </p:sp>
      <p:sp>
        <p:nvSpPr>
          <p:cNvPr id="5" name="Text 2"/>
          <p:cNvSpPr/>
          <p:nvPr/>
        </p:nvSpPr>
        <p:spPr>
          <a:xfrm>
            <a:off x="603504" y="1783080"/>
            <a:ext cx="5486400" cy="2743200"/>
          </a:xfrm>
          <a:prstGeom prst="rect">
            <a:avLst/>
          </a:prstGeom>
          <a:noFill/>
          <a:ln/>
        </p:spPr>
        <p:txBody>
          <a:bodyPr wrap="square" lIns="0" tIns="0" rIns="0" bIns="0" rtlCol="0" anchor="ctr"/>
          <a:lstStyle/>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PROOF</a:t>
            </a:r>
            <a:endParaRPr lang="en-US" sz="5200" dirty="0"/>
          </a:p>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OF</a:t>
            </a:r>
            <a:endParaRPr lang="en-US" sz="5200" dirty="0"/>
          </a:p>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VIEW</a:t>
            </a:r>
            <a:endParaRPr lang="en-US" sz="5200" dirty="0"/>
          </a:p>
        </p:txBody>
      </p:sp>
      <p:sp>
        <p:nvSpPr>
          <p:cNvPr id="6" name="Text 3"/>
          <p:cNvSpPr/>
          <p:nvPr/>
        </p:nvSpPr>
        <p:spPr>
          <a:xfrm>
            <a:off x="6903720" y="2377440"/>
            <a:ext cx="4663440" cy="2377440"/>
          </a:xfrm>
          <a:prstGeom prst="rect">
            <a:avLst/>
          </a:prstGeom>
          <a:noFill/>
          <a:ln/>
        </p:spPr>
        <p:txBody>
          <a:bodyPr wrap="square" lIns="0" tIns="0" rIns="0" bIns="0" rtlCol="0" anchor="ctr"/>
          <a:lstStyle/>
          <a:p>
            <a:pPr indent="0" marL="0">
              <a:lnSpc>
                <a:spcPct val="142000"/>
              </a:lnSpc>
              <a:buNone/>
            </a:pPr>
            <a:r>
              <a:rPr lang="en-US" sz="1550" dirty="0">
                <a:solidFill>
                  <a:srgbClr val="1A1A1A"/>
                </a:solidFill>
                <a:latin typeface="Helvetica Neue" pitchFamily="34" charset="0"/>
                <a:ea typeface="Helvetica Neue" pitchFamily="34" charset="-122"/>
                <a:cs typeface="Helvetica Neue" pitchFamily="34" charset="-120"/>
              </a:rPr>
              <a:t>A zero-knowledge attestation proves a real view occurred — and is payable exactly once. Each view's nullifier, Poseidon(viewerSecret, campaignId, epoch), is consumed on-chain, so the same view can never be paid twice and replays are rejected. The viewer is never identified or tracked.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35040" cy="6858000"/>
          </a:xfrm>
          <a:prstGeom prst="rect">
            <a:avLst/>
          </a:prstGeom>
          <a:solidFill>
            <a:srgbClr val="FAD9D2"/>
          </a:solidFill>
          <a:ln/>
        </p:spPr>
      </p:sp>
      <p:pic>
        <p:nvPicPr>
          <p:cNvPr id="3" name="Image 0" descr="preencoded.png">    </p:cNvPr>
          <p:cNvPicPr>
            <a:picLocks noChangeAspect="1"/>
          </p:cNvPicPr>
          <p:nvPr/>
        </p:nvPicPr>
        <p:blipFill>
          <a:blip r:embed="rId1"/>
          <a:stretch>
            <a:fillRect/>
          </a:stretch>
        </p:blipFill>
        <p:spPr>
          <a:xfrm>
            <a:off x="45720" y="4114800"/>
            <a:ext cx="3931920" cy="3611880"/>
          </a:xfrm>
          <a:prstGeom prst="rect">
            <a:avLst/>
          </a:prstGeom>
        </p:spPr>
      </p:pic>
      <p:sp>
        <p:nvSpPr>
          <p:cNvPr id="4" name="Text 1"/>
          <p:cNvSpPr/>
          <p:nvPr/>
        </p:nvSpPr>
        <p:spPr>
          <a:xfrm>
            <a:off x="640080" y="548640"/>
            <a:ext cx="10058400" cy="274320"/>
          </a:xfrm>
          <a:prstGeom prst="rect">
            <a:avLst/>
          </a:prstGeom>
          <a:noFill/>
          <a:ln/>
        </p:spPr>
        <p:txBody>
          <a:bodyPr wrap="square" lIns="0" tIns="0" rIns="0" bIns="0" rtlCol="0" anchor="ctr"/>
          <a:lstStyle/>
          <a:p>
            <a:pPr indent="0" marL="0">
              <a:buNone/>
            </a:pPr>
            <a:r>
              <a:rPr lang="en-US" sz="1300" spc="300" kern="0" dirty="0">
                <a:solidFill>
                  <a:srgbClr val="1A1A1A"/>
                </a:solidFill>
                <a:latin typeface="PT Mono" pitchFamily="34" charset="0"/>
                <a:ea typeface="PT Mono" pitchFamily="34" charset="-122"/>
                <a:cs typeface="PT Mono" pitchFamily="34" charset="-120"/>
              </a:rPr>
              <a:t>SOLUTION 2.0</a:t>
            </a:r>
            <a:endParaRPr lang="en-US" sz="1300" dirty="0"/>
          </a:p>
        </p:txBody>
      </p:sp>
      <p:sp>
        <p:nvSpPr>
          <p:cNvPr id="5" name="Text 2"/>
          <p:cNvSpPr/>
          <p:nvPr/>
        </p:nvSpPr>
        <p:spPr>
          <a:xfrm>
            <a:off x="603504" y="1783080"/>
            <a:ext cx="5486400" cy="2743200"/>
          </a:xfrm>
          <a:prstGeom prst="rect">
            <a:avLst/>
          </a:prstGeom>
          <a:noFill/>
          <a:ln/>
        </p:spPr>
        <p:txBody>
          <a:bodyPr wrap="square" lIns="0" tIns="0" rIns="0" bIns="0" rtlCol="0" anchor="ctr"/>
          <a:lstStyle/>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STABLE-</a:t>
            </a:r>
            <a:endParaRPr lang="en-US" sz="5200" dirty="0"/>
          </a:p>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COIN</a:t>
            </a:r>
            <a:endParaRPr lang="en-US" sz="5200" dirty="0"/>
          </a:p>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NANO-PAY</a:t>
            </a:r>
            <a:endParaRPr lang="en-US" sz="5200" dirty="0"/>
          </a:p>
        </p:txBody>
      </p:sp>
      <p:sp>
        <p:nvSpPr>
          <p:cNvPr id="6" name="Text 3"/>
          <p:cNvSpPr/>
          <p:nvPr/>
        </p:nvSpPr>
        <p:spPr>
          <a:xfrm>
            <a:off x="6903720" y="2377440"/>
            <a:ext cx="4663440" cy="2377440"/>
          </a:xfrm>
          <a:prstGeom prst="rect">
            <a:avLst/>
          </a:prstGeom>
          <a:noFill/>
          <a:ln/>
        </p:spPr>
        <p:txBody>
          <a:bodyPr wrap="square" lIns="0" tIns="0" rIns="0" bIns="0" rtlCol="0" anchor="ctr"/>
          <a:lstStyle/>
          <a:p>
            <a:pPr indent="0" marL="0">
              <a:lnSpc>
                <a:spcPct val="142000"/>
              </a:lnSpc>
              <a:buNone/>
            </a:pPr>
            <a:r>
              <a:rPr lang="en-US" sz="1550" dirty="0">
                <a:solidFill>
                  <a:srgbClr val="1A1A1A"/>
                </a:solidFill>
                <a:latin typeface="Helvetica Neue" pitchFamily="34" charset="0"/>
                <a:ea typeface="Helvetica Neue" pitchFamily="34" charset="-122"/>
                <a:cs typeface="Helvetica Neue" pitchFamily="34" charset="-120"/>
              </a:rPr>
              <a:t>Sub-cent USDC settles the instant a view is proven. Payments batch gaslessly through Circle Gateway (x402) so fees never swamp the amount, and clear on Arc where USDC is the native gas. The creator's balance updates in real time — no 30-day payout cycle.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35040" cy="6858000"/>
          </a:xfrm>
          <a:prstGeom prst="rect">
            <a:avLst/>
          </a:prstGeom>
          <a:solidFill>
            <a:srgbClr val="FAD9D2"/>
          </a:solidFill>
          <a:ln/>
        </p:spPr>
      </p:sp>
      <p:pic>
        <p:nvPicPr>
          <p:cNvPr id="3" name="Image 0" descr="preencoded.png">    </p:cNvPr>
          <p:cNvPicPr>
            <a:picLocks noChangeAspect="1"/>
          </p:cNvPicPr>
          <p:nvPr/>
        </p:nvPicPr>
        <p:blipFill>
          <a:blip r:embed="rId1"/>
          <a:stretch>
            <a:fillRect/>
          </a:stretch>
        </p:blipFill>
        <p:spPr>
          <a:xfrm>
            <a:off x="45720" y="4114800"/>
            <a:ext cx="3931920" cy="3611880"/>
          </a:xfrm>
          <a:prstGeom prst="rect">
            <a:avLst/>
          </a:prstGeom>
        </p:spPr>
      </p:pic>
      <p:sp>
        <p:nvSpPr>
          <p:cNvPr id="4" name="Text 1"/>
          <p:cNvSpPr/>
          <p:nvPr/>
        </p:nvSpPr>
        <p:spPr>
          <a:xfrm>
            <a:off x="640080" y="548640"/>
            <a:ext cx="10058400" cy="274320"/>
          </a:xfrm>
          <a:prstGeom prst="rect">
            <a:avLst/>
          </a:prstGeom>
          <a:noFill/>
          <a:ln/>
        </p:spPr>
        <p:txBody>
          <a:bodyPr wrap="square" lIns="0" tIns="0" rIns="0" bIns="0" rtlCol="0" anchor="ctr"/>
          <a:lstStyle/>
          <a:p>
            <a:pPr indent="0" marL="0">
              <a:buNone/>
            </a:pPr>
            <a:r>
              <a:rPr lang="en-US" sz="1300" spc="300" kern="0" dirty="0">
                <a:solidFill>
                  <a:srgbClr val="1A1A1A"/>
                </a:solidFill>
                <a:latin typeface="PT Mono" pitchFamily="34" charset="0"/>
                <a:ea typeface="PT Mono" pitchFamily="34" charset="-122"/>
                <a:cs typeface="PT Mono" pitchFamily="34" charset="-120"/>
              </a:rPr>
              <a:t>SOLUTION 3.0</a:t>
            </a:r>
            <a:endParaRPr lang="en-US" sz="1300" dirty="0"/>
          </a:p>
        </p:txBody>
      </p:sp>
      <p:sp>
        <p:nvSpPr>
          <p:cNvPr id="5" name="Text 2"/>
          <p:cNvSpPr/>
          <p:nvPr/>
        </p:nvSpPr>
        <p:spPr>
          <a:xfrm>
            <a:off x="603504" y="1783080"/>
            <a:ext cx="5486400" cy="2743200"/>
          </a:xfrm>
          <a:prstGeom prst="rect">
            <a:avLst/>
          </a:prstGeom>
          <a:noFill/>
          <a:ln/>
        </p:spPr>
        <p:txBody>
          <a:bodyPr wrap="square" lIns="0" tIns="0" rIns="0" bIns="0" rtlCol="0" anchor="ctr"/>
          <a:lstStyle/>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EMBED-</a:t>
            </a:r>
            <a:endParaRPr lang="en-US" sz="5200" dirty="0"/>
          </a:p>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DABLE</a:t>
            </a:r>
            <a:endParaRPr lang="en-US" sz="5200" dirty="0"/>
          </a:p>
          <a:p>
            <a:pPr indent="0" marL="0">
              <a:lnSpc>
                <a:spcPct val="100000"/>
              </a:lnSpc>
              <a:buNone/>
            </a:pPr>
            <a:r>
              <a:rPr lang="en-US" sz="5200" b="1" dirty="0">
                <a:solidFill>
                  <a:srgbClr val="E8492B"/>
                </a:solidFill>
                <a:latin typeface="PT Mono" pitchFamily="34" charset="0"/>
                <a:ea typeface="PT Mono" pitchFamily="34" charset="-122"/>
                <a:cs typeface="PT Mono" pitchFamily="34" charset="-120"/>
              </a:rPr>
              <a:t>SDK</a:t>
            </a:r>
            <a:endParaRPr lang="en-US" sz="5200" dirty="0"/>
          </a:p>
        </p:txBody>
      </p:sp>
      <p:sp>
        <p:nvSpPr>
          <p:cNvPr id="6" name="Text 3"/>
          <p:cNvSpPr/>
          <p:nvPr/>
        </p:nvSpPr>
        <p:spPr>
          <a:xfrm>
            <a:off x="6903720" y="2377440"/>
            <a:ext cx="4663440" cy="2377440"/>
          </a:xfrm>
          <a:prstGeom prst="rect">
            <a:avLst/>
          </a:prstGeom>
          <a:noFill/>
          <a:ln/>
        </p:spPr>
        <p:txBody>
          <a:bodyPr wrap="square" lIns="0" tIns="0" rIns="0" bIns="0" rtlCol="0" anchor="ctr"/>
          <a:lstStyle/>
          <a:p>
            <a:pPr indent="0" marL="0">
              <a:lnSpc>
                <a:spcPct val="142000"/>
              </a:lnSpc>
              <a:buNone/>
            </a:pPr>
            <a:r>
              <a:rPr lang="en-US" sz="1550" dirty="0">
                <a:solidFill>
                  <a:srgbClr val="1A1A1A"/>
                </a:solidFill>
                <a:latin typeface="Helvetica Neue" pitchFamily="34" charset="0"/>
                <a:ea typeface="Helvetica Neue" pitchFamily="34" charset="-122"/>
                <a:cs typeface="Helvetica Neue" pitchFamily="34" charset="-120"/>
              </a:rPr>
              <a:t>A drop-in SDK turns any open-web player into a paid one in a few lines of code. No ad network, no walled garden, no account migration — the creator keeps their player and their audience, and simply starts getting paid per genuine view.</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10058400" cy="274320"/>
          </a:xfrm>
          <a:prstGeom prst="rect">
            <a:avLst/>
          </a:prstGeom>
          <a:noFill/>
          <a:ln/>
        </p:spPr>
        <p:txBody>
          <a:bodyPr wrap="square" lIns="0" tIns="0" rIns="0" bIns="0" rtlCol="0" anchor="ctr"/>
          <a:lstStyle/>
          <a:p>
            <a:pPr indent="0" marL="0">
              <a:buNone/>
            </a:pPr>
            <a:r>
              <a:rPr lang="en-US" sz="1300" spc="300" kern="0" dirty="0">
                <a:solidFill>
                  <a:srgbClr val="E8492B"/>
                </a:solidFill>
                <a:latin typeface="PT Mono" pitchFamily="34" charset="0"/>
                <a:ea typeface="PT Mono" pitchFamily="34" charset="-122"/>
                <a:cs typeface="PT Mono" pitchFamily="34" charset="-120"/>
              </a:rPr>
              <a:t>HOW IT WORKS</a:t>
            </a:r>
            <a:endParaRPr lang="en-US" sz="1300" dirty="0"/>
          </a:p>
        </p:txBody>
      </p:sp>
      <p:sp>
        <p:nvSpPr>
          <p:cNvPr id="3" name="Text 1"/>
          <p:cNvSpPr/>
          <p:nvPr/>
        </p:nvSpPr>
        <p:spPr>
          <a:xfrm>
            <a:off x="621792" y="896112"/>
            <a:ext cx="10972800" cy="640080"/>
          </a:xfrm>
          <a:prstGeom prst="rect">
            <a:avLst/>
          </a:prstGeom>
          <a:noFill/>
          <a:ln/>
        </p:spPr>
        <p:txBody>
          <a:bodyPr wrap="square" lIns="0" tIns="0" rIns="0" bIns="0" rtlCol="0" anchor="ctr"/>
          <a:lstStyle/>
          <a:p>
            <a:pPr indent="0" marL="0">
              <a:buNone/>
            </a:pPr>
            <a:r>
              <a:rPr lang="en-US" sz="3000" b="1" dirty="0">
                <a:solidFill>
                  <a:srgbClr val="1A1A1A"/>
                </a:solidFill>
                <a:latin typeface="Helvetica Neue" pitchFamily="34" charset="0"/>
                <a:ea typeface="Helvetica Neue" pitchFamily="34" charset="-122"/>
                <a:cs typeface="Helvetica Neue" pitchFamily="34" charset="-120"/>
              </a:rPr>
              <a:t>One real view, </a:t>
            </a:r>
            <a:pPr indent="0" marL="0">
              <a:buNone/>
            </a:pPr>
            <a:r>
              <a:rPr lang="en-US" sz="3000" b="1" dirty="0">
                <a:solidFill>
                  <a:srgbClr val="8A8A8A"/>
                </a:solidFill>
                <a:latin typeface="Helvetica Neue" pitchFamily="34" charset="0"/>
                <a:ea typeface="Helvetica Neue" pitchFamily="34" charset="-122"/>
                <a:cs typeface="Helvetica Neue" pitchFamily="34" charset="-120"/>
              </a:rPr>
              <a:t>settled end-to-end.</a:t>
            </a:r>
            <a:endParaRPr lang="en-US" sz="3000" dirty="0"/>
          </a:p>
        </p:txBody>
      </p:sp>
      <p:sp>
        <p:nvSpPr>
          <p:cNvPr id="4" name="Text 2"/>
          <p:cNvSpPr/>
          <p:nvPr/>
        </p:nvSpPr>
        <p:spPr>
          <a:xfrm>
            <a:off x="640080" y="2286000"/>
            <a:ext cx="2194560" cy="822960"/>
          </a:xfrm>
          <a:prstGeom prst="rect">
            <a:avLst/>
          </a:prstGeom>
          <a:noFill/>
          <a:ln/>
        </p:spPr>
        <p:txBody>
          <a:bodyPr wrap="square" lIns="0" tIns="0" rIns="0" bIns="0" rtlCol="0" anchor="ctr"/>
          <a:lstStyle/>
          <a:p>
            <a:pPr indent="0" marL="0">
              <a:buNone/>
            </a:pPr>
            <a:r>
              <a:rPr lang="en-US" sz="4600" b="1" dirty="0">
                <a:solidFill>
                  <a:srgbClr val="E8492B"/>
                </a:solidFill>
                <a:latin typeface="PT Mono" pitchFamily="34" charset="0"/>
                <a:ea typeface="PT Mono" pitchFamily="34" charset="-122"/>
                <a:cs typeface="PT Mono" pitchFamily="34" charset="-120"/>
              </a:rPr>
              <a:t>01</a:t>
            </a:r>
            <a:endParaRPr lang="en-US" sz="4600" dirty="0"/>
          </a:p>
        </p:txBody>
      </p:sp>
      <p:sp>
        <p:nvSpPr>
          <p:cNvPr id="5" name="Shape 3"/>
          <p:cNvSpPr/>
          <p:nvPr/>
        </p:nvSpPr>
        <p:spPr>
          <a:xfrm>
            <a:off x="640080" y="3246120"/>
            <a:ext cx="2057400" cy="0"/>
          </a:xfrm>
          <a:prstGeom prst="line">
            <a:avLst/>
          </a:prstGeom>
          <a:noFill/>
          <a:ln w="12700">
            <a:solidFill>
              <a:srgbClr val="D9D2CC"/>
            </a:solidFill>
            <a:prstDash val="solid"/>
          </a:ln>
        </p:spPr>
      </p:sp>
      <p:sp>
        <p:nvSpPr>
          <p:cNvPr id="6" name="Text 4"/>
          <p:cNvSpPr/>
          <p:nvPr/>
        </p:nvSpPr>
        <p:spPr>
          <a:xfrm>
            <a:off x="640080" y="3364992"/>
            <a:ext cx="2103120" cy="365760"/>
          </a:xfrm>
          <a:prstGeom prst="rect">
            <a:avLst/>
          </a:prstGeom>
          <a:noFill/>
          <a:ln/>
        </p:spPr>
        <p:txBody>
          <a:bodyPr wrap="square" lIns="0" tIns="0" rIns="0" bIns="0" rtlCol="0" anchor="ctr"/>
          <a:lstStyle/>
          <a:p>
            <a:pPr indent="0" marL="0">
              <a:buNone/>
            </a:pPr>
            <a:r>
              <a:rPr lang="en-US" sz="1700" b="1" dirty="0">
                <a:solidFill>
                  <a:srgbClr val="1A1A1A"/>
                </a:solidFill>
                <a:latin typeface="Helvetica Neue" pitchFamily="34" charset="0"/>
                <a:ea typeface="Helvetica Neue" pitchFamily="34" charset="-122"/>
                <a:cs typeface="Helvetica Neue" pitchFamily="34" charset="-120"/>
              </a:rPr>
              <a:t>Watch</a:t>
            </a:r>
            <a:endParaRPr lang="en-US" sz="1700" dirty="0"/>
          </a:p>
        </p:txBody>
      </p:sp>
      <p:sp>
        <p:nvSpPr>
          <p:cNvPr id="7" name="Text 5"/>
          <p:cNvSpPr/>
          <p:nvPr/>
        </p:nvSpPr>
        <p:spPr>
          <a:xfrm>
            <a:off x="640080" y="3803904"/>
            <a:ext cx="2029968" cy="1280160"/>
          </a:xfrm>
          <a:prstGeom prst="rect">
            <a:avLst/>
          </a:prstGeom>
          <a:noFill/>
          <a:ln/>
        </p:spPr>
        <p:txBody>
          <a:bodyPr wrap="square" lIns="0" tIns="0" rIns="0" bIns="0" rtlCol="0" anchor="ctr"/>
          <a:lstStyle/>
          <a:p>
            <a:pPr indent="0" marL="0">
              <a:lnSpc>
                <a:spcPct val="128000"/>
              </a:lnSpc>
              <a:buNone/>
            </a:pPr>
            <a:r>
              <a:rPr lang="en-US" sz="1250" dirty="0">
                <a:solidFill>
                  <a:srgbClr val="55504C"/>
                </a:solidFill>
                <a:latin typeface="Helvetica Neue" pitchFamily="34" charset="0"/>
                <a:ea typeface="Helvetica Neue" pitchFamily="34" charset="-122"/>
                <a:cs typeface="Helvetica Neue" pitchFamily="34" charset="-120"/>
              </a:rPr>
              <a:t>A viewer genuinely watches on any embedded open-web player.</a:t>
            </a:r>
            <a:endParaRPr lang="en-US" sz="1250" dirty="0"/>
          </a:p>
        </p:txBody>
      </p:sp>
      <p:sp>
        <p:nvSpPr>
          <p:cNvPr id="8" name="Text 6"/>
          <p:cNvSpPr/>
          <p:nvPr/>
        </p:nvSpPr>
        <p:spPr>
          <a:xfrm>
            <a:off x="2898648" y="2286000"/>
            <a:ext cx="2194560" cy="822960"/>
          </a:xfrm>
          <a:prstGeom prst="rect">
            <a:avLst/>
          </a:prstGeom>
          <a:noFill/>
          <a:ln/>
        </p:spPr>
        <p:txBody>
          <a:bodyPr wrap="square" lIns="0" tIns="0" rIns="0" bIns="0" rtlCol="0" anchor="ctr"/>
          <a:lstStyle/>
          <a:p>
            <a:pPr indent="0" marL="0">
              <a:buNone/>
            </a:pPr>
            <a:r>
              <a:rPr lang="en-US" sz="4600" b="1" dirty="0">
                <a:solidFill>
                  <a:srgbClr val="E8492B"/>
                </a:solidFill>
                <a:latin typeface="PT Mono" pitchFamily="34" charset="0"/>
                <a:ea typeface="PT Mono" pitchFamily="34" charset="-122"/>
                <a:cs typeface="PT Mono" pitchFamily="34" charset="-120"/>
              </a:rPr>
              <a:t>02</a:t>
            </a:r>
            <a:endParaRPr lang="en-US" sz="4600" dirty="0"/>
          </a:p>
        </p:txBody>
      </p:sp>
      <p:sp>
        <p:nvSpPr>
          <p:cNvPr id="9" name="Shape 7"/>
          <p:cNvSpPr/>
          <p:nvPr/>
        </p:nvSpPr>
        <p:spPr>
          <a:xfrm>
            <a:off x="2898648" y="3246120"/>
            <a:ext cx="2057400" cy="0"/>
          </a:xfrm>
          <a:prstGeom prst="line">
            <a:avLst/>
          </a:prstGeom>
          <a:noFill/>
          <a:ln w="12700">
            <a:solidFill>
              <a:srgbClr val="D9D2CC"/>
            </a:solidFill>
            <a:prstDash val="solid"/>
          </a:ln>
        </p:spPr>
      </p:sp>
      <p:sp>
        <p:nvSpPr>
          <p:cNvPr id="10" name="Text 8"/>
          <p:cNvSpPr/>
          <p:nvPr/>
        </p:nvSpPr>
        <p:spPr>
          <a:xfrm>
            <a:off x="2898648" y="3364992"/>
            <a:ext cx="2103120" cy="365760"/>
          </a:xfrm>
          <a:prstGeom prst="rect">
            <a:avLst/>
          </a:prstGeom>
          <a:noFill/>
          <a:ln/>
        </p:spPr>
        <p:txBody>
          <a:bodyPr wrap="square" lIns="0" tIns="0" rIns="0" bIns="0" rtlCol="0" anchor="ctr"/>
          <a:lstStyle/>
          <a:p>
            <a:pPr indent="0" marL="0">
              <a:buNone/>
            </a:pPr>
            <a:r>
              <a:rPr lang="en-US" sz="1700" b="1" dirty="0">
                <a:solidFill>
                  <a:srgbClr val="1A1A1A"/>
                </a:solidFill>
                <a:latin typeface="Helvetica Neue" pitchFamily="34" charset="0"/>
                <a:ea typeface="Helvetica Neue" pitchFamily="34" charset="-122"/>
                <a:cs typeface="Helvetica Neue" pitchFamily="34" charset="-120"/>
              </a:rPr>
              <a:t>Attest</a:t>
            </a:r>
            <a:endParaRPr lang="en-US" sz="1700" dirty="0"/>
          </a:p>
        </p:txBody>
      </p:sp>
      <p:sp>
        <p:nvSpPr>
          <p:cNvPr id="11" name="Text 9"/>
          <p:cNvSpPr/>
          <p:nvPr/>
        </p:nvSpPr>
        <p:spPr>
          <a:xfrm>
            <a:off x="2898648" y="3803904"/>
            <a:ext cx="2029968" cy="1280160"/>
          </a:xfrm>
          <a:prstGeom prst="rect">
            <a:avLst/>
          </a:prstGeom>
          <a:noFill/>
          <a:ln/>
        </p:spPr>
        <p:txBody>
          <a:bodyPr wrap="square" lIns="0" tIns="0" rIns="0" bIns="0" rtlCol="0" anchor="ctr"/>
          <a:lstStyle/>
          <a:p>
            <a:pPr indent="0" marL="0">
              <a:lnSpc>
                <a:spcPct val="128000"/>
              </a:lnSpc>
              <a:buNone/>
            </a:pPr>
            <a:r>
              <a:rPr lang="en-US" sz="1250" dirty="0">
                <a:solidFill>
                  <a:srgbClr val="55504C"/>
                </a:solidFill>
                <a:latin typeface="Helvetica Neue" pitchFamily="34" charset="0"/>
                <a:ea typeface="Helvetica Neue" pitchFamily="34" charset="-122"/>
                <a:cs typeface="Helvetica Neue" pitchFamily="34" charset="-120"/>
              </a:rPr>
              <a:t>The attestor signs an EIP-712 proof-of-view with a unique nullifier.</a:t>
            </a:r>
            <a:endParaRPr lang="en-US" sz="1250" dirty="0"/>
          </a:p>
        </p:txBody>
      </p:sp>
      <p:sp>
        <p:nvSpPr>
          <p:cNvPr id="12" name="Text 10"/>
          <p:cNvSpPr/>
          <p:nvPr/>
        </p:nvSpPr>
        <p:spPr>
          <a:xfrm>
            <a:off x="5157216" y="2286000"/>
            <a:ext cx="2194560" cy="822960"/>
          </a:xfrm>
          <a:prstGeom prst="rect">
            <a:avLst/>
          </a:prstGeom>
          <a:noFill/>
          <a:ln/>
        </p:spPr>
        <p:txBody>
          <a:bodyPr wrap="square" lIns="0" tIns="0" rIns="0" bIns="0" rtlCol="0" anchor="ctr"/>
          <a:lstStyle/>
          <a:p>
            <a:pPr indent="0" marL="0">
              <a:buNone/>
            </a:pPr>
            <a:r>
              <a:rPr lang="en-US" sz="4600" b="1" dirty="0">
                <a:solidFill>
                  <a:srgbClr val="E8492B"/>
                </a:solidFill>
                <a:latin typeface="PT Mono" pitchFamily="34" charset="0"/>
                <a:ea typeface="PT Mono" pitchFamily="34" charset="-122"/>
                <a:cs typeface="PT Mono" pitchFamily="34" charset="-120"/>
              </a:rPr>
              <a:t>03</a:t>
            </a:r>
            <a:endParaRPr lang="en-US" sz="4600" dirty="0"/>
          </a:p>
        </p:txBody>
      </p:sp>
      <p:sp>
        <p:nvSpPr>
          <p:cNvPr id="13" name="Shape 11"/>
          <p:cNvSpPr/>
          <p:nvPr/>
        </p:nvSpPr>
        <p:spPr>
          <a:xfrm>
            <a:off x="5157216" y="3246120"/>
            <a:ext cx="2057400" cy="0"/>
          </a:xfrm>
          <a:prstGeom prst="line">
            <a:avLst/>
          </a:prstGeom>
          <a:noFill/>
          <a:ln w="12700">
            <a:solidFill>
              <a:srgbClr val="D9D2CC"/>
            </a:solidFill>
            <a:prstDash val="solid"/>
          </a:ln>
        </p:spPr>
      </p:sp>
      <p:sp>
        <p:nvSpPr>
          <p:cNvPr id="14" name="Text 12"/>
          <p:cNvSpPr/>
          <p:nvPr/>
        </p:nvSpPr>
        <p:spPr>
          <a:xfrm>
            <a:off x="5157216" y="3364992"/>
            <a:ext cx="2103120" cy="365760"/>
          </a:xfrm>
          <a:prstGeom prst="rect">
            <a:avLst/>
          </a:prstGeom>
          <a:noFill/>
          <a:ln/>
        </p:spPr>
        <p:txBody>
          <a:bodyPr wrap="square" lIns="0" tIns="0" rIns="0" bIns="0" rtlCol="0" anchor="ctr"/>
          <a:lstStyle/>
          <a:p>
            <a:pPr indent="0" marL="0">
              <a:buNone/>
            </a:pPr>
            <a:r>
              <a:rPr lang="en-US" sz="1700" b="1" dirty="0">
                <a:solidFill>
                  <a:srgbClr val="1A1A1A"/>
                </a:solidFill>
                <a:latin typeface="Helvetica Neue" pitchFamily="34" charset="0"/>
                <a:ea typeface="Helvetica Neue" pitchFamily="34" charset="-122"/>
                <a:cs typeface="Helvetica Neue" pitchFamily="34" charset="-120"/>
              </a:rPr>
              <a:t>Pay</a:t>
            </a:r>
            <a:endParaRPr lang="en-US" sz="1700" dirty="0"/>
          </a:p>
        </p:txBody>
      </p:sp>
      <p:sp>
        <p:nvSpPr>
          <p:cNvPr id="15" name="Text 13"/>
          <p:cNvSpPr/>
          <p:nvPr/>
        </p:nvSpPr>
        <p:spPr>
          <a:xfrm>
            <a:off x="5157216" y="3803904"/>
            <a:ext cx="2029968" cy="1280160"/>
          </a:xfrm>
          <a:prstGeom prst="rect">
            <a:avLst/>
          </a:prstGeom>
          <a:noFill/>
          <a:ln/>
        </p:spPr>
        <p:txBody>
          <a:bodyPr wrap="square" lIns="0" tIns="0" rIns="0" bIns="0" rtlCol="0" anchor="ctr"/>
          <a:lstStyle/>
          <a:p>
            <a:pPr indent="0" marL="0">
              <a:lnSpc>
                <a:spcPct val="128000"/>
              </a:lnSpc>
              <a:buNone/>
            </a:pPr>
            <a:r>
              <a:rPr lang="en-US" sz="1250" dirty="0">
                <a:solidFill>
                  <a:srgbClr val="55504C"/>
                </a:solidFill>
                <a:latin typeface="Helvetica Neue" pitchFamily="34" charset="0"/>
                <a:ea typeface="Helvetica Neue" pitchFamily="34" charset="-122"/>
                <a:cs typeface="Helvetica Neue" pitchFamily="34" charset="-120"/>
              </a:rPr>
              <a:t>Circle Gateway settles a sub-cent USDC nanopayment — batched, gasless.</a:t>
            </a:r>
            <a:endParaRPr lang="en-US" sz="1250" dirty="0"/>
          </a:p>
        </p:txBody>
      </p:sp>
      <p:sp>
        <p:nvSpPr>
          <p:cNvPr id="16" name="Text 14"/>
          <p:cNvSpPr/>
          <p:nvPr/>
        </p:nvSpPr>
        <p:spPr>
          <a:xfrm>
            <a:off x="7415784" y="2286000"/>
            <a:ext cx="2194560" cy="822960"/>
          </a:xfrm>
          <a:prstGeom prst="rect">
            <a:avLst/>
          </a:prstGeom>
          <a:noFill/>
          <a:ln/>
        </p:spPr>
        <p:txBody>
          <a:bodyPr wrap="square" lIns="0" tIns="0" rIns="0" bIns="0" rtlCol="0" anchor="ctr"/>
          <a:lstStyle/>
          <a:p>
            <a:pPr indent="0" marL="0">
              <a:buNone/>
            </a:pPr>
            <a:r>
              <a:rPr lang="en-US" sz="4600" b="1" dirty="0">
                <a:solidFill>
                  <a:srgbClr val="E8492B"/>
                </a:solidFill>
                <a:latin typeface="PT Mono" pitchFamily="34" charset="0"/>
                <a:ea typeface="PT Mono" pitchFamily="34" charset="-122"/>
                <a:cs typeface="PT Mono" pitchFamily="34" charset="-120"/>
              </a:rPr>
              <a:t>04</a:t>
            </a:r>
            <a:endParaRPr lang="en-US" sz="4600" dirty="0"/>
          </a:p>
        </p:txBody>
      </p:sp>
      <p:sp>
        <p:nvSpPr>
          <p:cNvPr id="17" name="Shape 15"/>
          <p:cNvSpPr/>
          <p:nvPr/>
        </p:nvSpPr>
        <p:spPr>
          <a:xfrm>
            <a:off x="7415784" y="3246120"/>
            <a:ext cx="2057400" cy="0"/>
          </a:xfrm>
          <a:prstGeom prst="line">
            <a:avLst/>
          </a:prstGeom>
          <a:noFill/>
          <a:ln w="12700">
            <a:solidFill>
              <a:srgbClr val="D9D2CC"/>
            </a:solidFill>
            <a:prstDash val="solid"/>
          </a:ln>
        </p:spPr>
      </p:sp>
      <p:sp>
        <p:nvSpPr>
          <p:cNvPr id="18" name="Text 16"/>
          <p:cNvSpPr/>
          <p:nvPr/>
        </p:nvSpPr>
        <p:spPr>
          <a:xfrm>
            <a:off x="7415784" y="3364992"/>
            <a:ext cx="2103120" cy="365760"/>
          </a:xfrm>
          <a:prstGeom prst="rect">
            <a:avLst/>
          </a:prstGeom>
          <a:noFill/>
          <a:ln/>
        </p:spPr>
        <p:txBody>
          <a:bodyPr wrap="square" lIns="0" tIns="0" rIns="0" bIns="0" rtlCol="0" anchor="ctr"/>
          <a:lstStyle/>
          <a:p>
            <a:pPr indent="0" marL="0">
              <a:buNone/>
            </a:pPr>
            <a:r>
              <a:rPr lang="en-US" sz="1700" b="1" dirty="0">
                <a:solidFill>
                  <a:srgbClr val="1A1A1A"/>
                </a:solidFill>
                <a:latin typeface="Helvetica Neue" pitchFamily="34" charset="0"/>
                <a:ea typeface="Helvetica Neue" pitchFamily="34" charset="-122"/>
                <a:cs typeface="Helvetica Neue" pitchFamily="34" charset="-120"/>
              </a:rPr>
              <a:t>Accrue</a:t>
            </a:r>
            <a:endParaRPr lang="en-US" sz="1700" dirty="0"/>
          </a:p>
        </p:txBody>
      </p:sp>
      <p:sp>
        <p:nvSpPr>
          <p:cNvPr id="19" name="Text 17"/>
          <p:cNvSpPr/>
          <p:nvPr/>
        </p:nvSpPr>
        <p:spPr>
          <a:xfrm>
            <a:off x="7415784" y="3803904"/>
            <a:ext cx="2029968" cy="1280160"/>
          </a:xfrm>
          <a:prstGeom prst="rect">
            <a:avLst/>
          </a:prstGeom>
          <a:noFill/>
          <a:ln/>
        </p:spPr>
        <p:txBody>
          <a:bodyPr wrap="square" lIns="0" tIns="0" rIns="0" bIns="0" rtlCol="0" anchor="ctr"/>
          <a:lstStyle/>
          <a:p>
            <a:pPr indent="0" marL="0">
              <a:lnSpc>
                <a:spcPct val="128000"/>
              </a:lnSpc>
              <a:buNone/>
            </a:pPr>
            <a:r>
              <a:rPr lang="en-US" sz="1250" dirty="0">
                <a:solidFill>
                  <a:srgbClr val="55504C"/>
                </a:solidFill>
                <a:latin typeface="Helvetica Neue" pitchFamily="34" charset="0"/>
                <a:ea typeface="Helvetica Neue" pitchFamily="34" charset="-122"/>
                <a:cs typeface="Helvetica Neue" pitchFamily="34" charset="-120"/>
              </a:rPr>
              <a:t>Earnings credit the creator's USDC balance on Arc, instantly.</a:t>
            </a:r>
            <a:endParaRPr lang="en-US" sz="1250" dirty="0"/>
          </a:p>
        </p:txBody>
      </p:sp>
      <p:sp>
        <p:nvSpPr>
          <p:cNvPr id="20" name="Text 18"/>
          <p:cNvSpPr/>
          <p:nvPr/>
        </p:nvSpPr>
        <p:spPr>
          <a:xfrm>
            <a:off x="9674352" y="2286000"/>
            <a:ext cx="2194560" cy="822960"/>
          </a:xfrm>
          <a:prstGeom prst="rect">
            <a:avLst/>
          </a:prstGeom>
          <a:noFill/>
          <a:ln/>
        </p:spPr>
        <p:txBody>
          <a:bodyPr wrap="square" lIns="0" tIns="0" rIns="0" bIns="0" rtlCol="0" anchor="ctr"/>
          <a:lstStyle/>
          <a:p>
            <a:pPr indent="0" marL="0">
              <a:buNone/>
            </a:pPr>
            <a:r>
              <a:rPr lang="en-US" sz="4600" b="1" dirty="0">
                <a:solidFill>
                  <a:srgbClr val="E8492B"/>
                </a:solidFill>
                <a:latin typeface="PT Mono" pitchFamily="34" charset="0"/>
                <a:ea typeface="PT Mono" pitchFamily="34" charset="-122"/>
                <a:cs typeface="PT Mono" pitchFamily="34" charset="-120"/>
              </a:rPr>
              <a:t>05</a:t>
            </a:r>
            <a:endParaRPr lang="en-US" sz="4600" dirty="0"/>
          </a:p>
        </p:txBody>
      </p:sp>
      <p:sp>
        <p:nvSpPr>
          <p:cNvPr id="21" name="Shape 19"/>
          <p:cNvSpPr/>
          <p:nvPr/>
        </p:nvSpPr>
        <p:spPr>
          <a:xfrm>
            <a:off x="9674352" y="3246120"/>
            <a:ext cx="2057400" cy="0"/>
          </a:xfrm>
          <a:prstGeom prst="line">
            <a:avLst/>
          </a:prstGeom>
          <a:noFill/>
          <a:ln w="12700">
            <a:solidFill>
              <a:srgbClr val="D9D2CC"/>
            </a:solidFill>
            <a:prstDash val="solid"/>
          </a:ln>
        </p:spPr>
      </p:sp>
      <p:sp>
        <p:nvSpPr>
          <p:cNvPr id="22" name="Text 20"/>
          <p:cNvSpPr/>
          <p:nvPr/>
        </p:nvSpPr>
        <p:spPr>
          <a:xfrm>
            <a:off x="9674352" y="3364992"/>
            <a:ext cx="2103120" cy="365760"/>
          </a:xfrm>
          <a:prstGeom prst="rect">
            <a:avLst/>
          </a:prstGeom>
          <a:noFill/>
          <a:ln/>
        </p:spPr>
        <p:txBody>
          <a:bodyPr wrap="square" lIns="0" tIns="0" rIns="0" bIns="0" rtlCol="0" anchor="ctr"/>
          <a:lstStyle/>
          <a:p>
            <a:pPr indent="0" marL="0">
              <a:buNone/>
            </a:pPr>
            <a:r>
              <a:rPr lang="en-US" sz="1700" b="1" dirty="0">
                <a:solidFill>
                  <a:srgbClr val="1A1A1A"/>
                </a:solidFill>
                <a:latin typeface="Helvetica Neue" pitchFamily="34" charset="0"/>
                <a:ea typeface="Helvetica Neue" pitchFamily="34" charset="-122"/>
                <a:cs typeface="Helvetica Neue" pitchFamily="34" charset="-120"/>
              </a:rPr>
              <a:t>Cash out</a:t>
            </a:r>
            <a:endParaRPr lang="en-US" sz="1700" dirty="0"/>
          </a:p>
        </p:txBody>
      </p:sp>
      <p:sp>
        <p:nvSpPr>
          <p:cNvPr id="23" name="Text 21"/>
          <p:cNvSpPr/>
          <p:nvPr/>
        </p:nvSpPr>
        <p:spPr>
          <a:xfrm>
            <a:off x="9674352" y="3803904"/>
            <a:ext cx="2029968" cy="1280160"/>
          </a:xfrm>
          <a:prstGeom prst="rect">
            <a:avLst/>
          </a:prstGeom>
          <a:noFill/>
          <a:ln/>
        </p:spPr>
        <p:txBody>
          <a:bodyPr wrap="square" lIns="0" tIns="0" rIns="0" bIns="0" rtlCol="0" anchor="ctr"/>
          <a:lstStyle/>
          <a:p>
            <a:pPr indent="0" marL="0">
              <a:lnSpc>
                <a:spcPct val="128000"/>
              </a:lnSpc>
              <a:buNone/>
            </a:pPr>
            <a:r>
              <a:rPr lang="en-US" sz="1250" dirty="0">
                <a:solidFill>
                  <a:srgbClr val="55504C"/>
                </a:solidFill>
                <a:latin typeface="Helvetica Neue" pitchFamily="34" charset="0"/>
                <a:ea typeface="Helvetica Neue" pitchFamily="34" charset="-122"/>
                <a:cs typeface="Helvetica Neue" pitchFamily="34" charset="-120"/>
              </a:rPr>
              <a:t>Withdraw, bridge to Ethereum, or send — one click via Circle.</a:t>
            </a:r>
            <a:endParaRPr lang="en-US" sz="1250" dirty="0"/>
          </a:p>
        </p:txBody>
      </p:sp>
      <p:sp>
        <p:nvSpPr>
          <p:cNvPr id="24" name="Shape 22"/>
          <p:cNvSpPr/>
          <p:nvPr/>
        </p:nvSpPr>
        <p:spPr>
          <a:xfrm>
            <a:off x="640080" y="5440680"/>
            <a:ext cx="10927080" cy="841248"/>
          </a:xfrm>
          <a:prstGeom prst="rect">
            <a:avLst/>
          </a:prstGeom>
          <a:solidFill>
            <a:srgbClr val="E6E6E6"/>
          </a:solidFill>
          <a:ln/>
        </p:spPr>
      </p:sp>
      <p:sp>
        <p:nvSpPr>
          <p:cNvPr id="25" name="Text 23"/>
          <p:cNvSpPr/>
          <p:nvPr/>
        </p:nvSpPr>
        <p:spPr>
          <a:xfrm>
            <a:off x="914400" y="5440680"/>
            <a:ext cx="10424160" cy="841248"/>
          </a:xfrm>
          <a:prstGeom prst="rect">
            <a:avLst/>
          </a:prstGeom>
          <a:noFill/>
          <a:ln/>
        </p:spPr>
        <p:txBody>
          <a:bodyPr wrap="square" lIns="0" tIns="0" rIns="0" bIns="0" rtlCol="0" anchor="ctr"/>
          <a:lstStyle/>
          <a:p>
            <a:pPr indent="0" marL="0">
              <a:buNone/>
            </a:pPr>
            <a:r>
              <a:rPr lang="en-US" sz="1200" b="1" spc="100" kern="0" dirty="0">
                <a:solidFill>
                  <a:srgbClr val="E8492B"/>
                </a:solidFill>
                <a:latin typeface="PT Mono" pitchFamily="34" charset="0"/>
                <a:ea typeface="PT Mono" pitchFamily="34" charset="-122"/>
                <a:cs typeface="PT Mono" pitchFamily="34" charset="-120"/>
              </a:rPr>
              <a:t>DOUBLE-SPEND PROOF   </a:t>
            </a:r>
            <a:pPr indent="0" marL="0">
              <a:buNone/>
            </a:pPr>
            <a:r>
              <a:rPr lang="en-US" sz="1300" dirty="0">
                <a:solidFill>
                  <a:srgbClr val="55504C"/>
                </a:solidFill>
                <a:latin typeface="Helvetica Neue" pitchFamily="34" charset="0"/>
                <a:ea typeface="Helvetica Neue" pitchFamily="34" charset="-122"/>
                <a:cs typeface="Helvetica Neue" pitchFamily="34" charset="-120"/>
              </a:rPr>
              <a:t>Each nullifier is consumed on-chain, so a view can never be paid twice. Replays return a 409.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10058400" cy="274320"/>
          </a:xfrm>
          <a:prstGeom prst="rect">
            <a:avLst/>
          </a:prstGeom>
          <a:noFill/>
          <a:ln/>
        </p:spPr>
        <p:txBody>
          <a:bodyPr wrap="square" lIns="0" tIns="0" rIns="0" bIns="0" rtlCol="0" anchor="ctr"/>
          <a:lstStyle/>
          <a:p>
            <a:pPr indent="0" marL="0">
              <a:buNone/>
            </a:pPr>
            <a:r>
              <a:rPr lang="en-US" sz="1300" spc="300" kern="0" dirty="0">
                <a:solidFill>
                  <a:srgbClr val="E8492B"/>
                </a:solidFill>
                <a:latin typeface="PT Mono" pitchFamily="34" charset="0"/>
                <a:ea typeface="PT Mono" pitchFamily="34" charset="-122"/>
                <a:cs typeface="PT Mono" pitchFamily="34" charset="-120"/>
              </a:rPr>
              <a:t>BUILT ON ARC</a:t>
            </a:r>
            <a:endParaRPr lang="en-US" sz="1300" dirty="0"/>
          </a:p>
        </p:txBody>
      </p:sp>
      <p:sp>
        <p:nvSpPr>
          <p:cNvPr id="3" name="Text 1"/>
          <p:cNvSpPr/>
          <p:nvPr/>
        </p:nvSpPr>
        <p:spPr>
          <a:xfrm>
            <a:off x="621792" y="896112"/>
            <a:ext cx="10972800" cy="640080"/>
          </a:xfrm>
          <a:prstGeom prst="rect">
            <a:avLst/>
          </a:prstGeom>
          <a:noFill/>
          <a:ln/>
        </p:spPr>
        <p:txBody>
          <a:bodyPr wrap="square" lIns="0" tIns="0" rIns="0" bIns="0" rtlCol="0" anchor="ctr"/>
          <a:lstStyle/>
          <a:p>
            <a:pPr indent="0" marL="0">
              <a:buNone/>
            </a:pPr>
            <a:r>
              <a:rPr lang="en-US" sz="3000" b="1" dirty="0">
                <a:solidFill>
                  <a:srgbClr val="1A1A1A"/>
                </a:solidFill>
                <a:latin typeface="Helvetica Neue" pitchFamily="34" charset="0"/>
                <a:ea typeface="Helvetica Neue" pitchFamily="34" charset="-122"/>
                <a:cs typeface="Helvetica Neue" pitchFamily="34" charset="-120"/>
              </a:rPr>
              <a:t>Composed from the </a:t>
            </a:r>
            <a:pPr indent="0" marL="0">
              <a:buNone/>
            </a:pPr>
            <a:r>
              <a:rPr lang="en-US" sz="3000" b="1" dirty="0">
                <a:solidFill>
                  <a:srgbClr val="8A8A8A"/>
                </a:solidFill>
                <a:latin typeface="Helvetica Neue" pitchFamily="34" charset="0"/>
                <a:ea typeface="Helvetica Neue" pitchFamily="34" charset="-122"/>
                <a:cs typeface="Helvetica Neue" pitchFamily="34" charset="-120"/>
              </a:rPr>
              <a:t>full Circle + Arc stack.</a:t>
            </a:r>
            <a:endParaRPr lang="en-US" sz="3000" dirty="0"/>
          </a:p>
        </p:txBody>
      </p:sp>
      <p:sp>
        <p:nvSpPr>
          <p:cNvPr id="4" name="Text 2"/>
          <p:cNvSpPr/>
          <p:nvPr/>
        </p:nvSpPr>
        <p:spPr>
          <a:xfrm>
            <a:off x="640080" y="2240280"/>
            <a:ext cx="914400" cy="365760"/>
          </a:xfrm>
          <a:prstGeom prst="rect">
            <a:avLst/>
          </a:prstGeom>
          <a:noFill/>
          <a:ln/>
        </p:spPr>
        <p:txBody>
          <a:bodyPr wrap="square" lIns="0" tIns="0" rIns="0" bIns="0" rtlCol="0" anchor="ctr"/>
          <a:lstStyle/>
          <a:p>
            <a:pPr indent="0" marL="0">
              <a:buNone/>
            </a:pPr>
            <a:r>
              <a:rPr lang="en-US" sz="1300" spc="100" kern="0" dirty="0">
                <a:solidFill>
                  <a:srgbClr val="E8492B"/>
                </a:solidFill>
                <a:latin typeface="PT Mono" pitchFamily="34" charset="0"/>
                <a:ea typeface="PT Mono" pitchFamily="34" charset="-122"/>
                <a:cs typeface="PT Mono" pitchFamily="34" charset="-120"/>
              </a:rPr>
              <a:t>01</a:t>
            </a:r>
            <a:endParaRPr lang="en-US" sz="1300" dirty="0"/>
          </a:p>
        </p:txBody>
      </p:sp>
      <p:sp>
        <p:nvSpPr>
          <p:cNvPr id="5" name="Text 3"/>
          <p:cNvSpPr/>
          <p:nvPr/>
        </p:nvSpPr>
        <p:spPr>
          <a:xfrm>
            <a:off x="640080" y="2606040"/>
            <a:ext cx="3337560" cy="365760"/>
          </a:xfrm>
          <a:prstGeom prst="rect">
            <a:avLst/>
          </a:prstGeom>
          <a:noFill/>
          <a:ln/>
        </p:spPr>
        <p:txBody>
          <a:bodyPr wrap="square" lIns="0" tIns="0" rIns="0" bIns="0" rtlCol="0" anchor="ctr"/>
          <a:lstStyle/>
          <a:p>
            <a:pPr indent="0" marL="0">
              <a:buNone/>
            </a:pPr>
            <a:r>
              <a:rPr lang="en-US" sz="1500" b="1" spc="100" kern="0" dirty="0">
                <a:solidFill>
                  <a:srgbClr val="1A1A1A"/>
                </a:solidFill>
                <a:latin typeface="PT Mono" pitchFamily="34" charset="0"/>
                <a:ea typeface="PT Mono" pitchFamily="34" charset="-122"/>
                <a:cs typeface="PT Mono" pitchFamily="34" charset="-120"/>
              </a:rPr>
              <a:t>CIRCLE GATEWAY</a:t>
            </a:r>
            <a:endParaRPr lang="en-US" sz="1500" dirty="0"/>
          </a:p>
        </p:txBody>
      </p:sp>
      <p:sp>
        <p:nvSpPr>
          <p:cNvPr id="6" name="Shape 4"/>
          <p:cNvSpPr/>
          <p:nvPr/>
        </p:nvSpPr>
        <p:spPr>
          <a:xfrm>
            <a:off x="640080" y="2990088"/>
            <a:ext cx="3200400" cy="0"/>
          </a:xfrm>
          <a:prstGeom prst="line">
            <a:avLst/>
          </a:prstGeom>
          <a:noFill/>
          <a:ln w="12700">
            <a:solidFill>
              <a:srgbClr val="D9D2CC"/>
            </a:solidFill>
            <a:prstDash val="solid"/>
          </a:ln>
        </p:spPr>
      </p:sp>
      <p:sp>
        <p:nvSpPr>
          <p:cNvPr id="7" name="Text 5"/>
          <p:cNvSpPr/>
          <p:nvPr/>
        </p:nvSpPr>
        <p:spPr>
          <a:xfrm>
            <a:off x="640080" y="3099816"/>
            <a:ext cx="3200400" cy="822960"/>
          </a:xfrm>
          <a:prstGeom prst="rect">
            <a:avLst/>
          </a:prstGeom>
          <a:noFill/>
          <a:ln/>
        </p:spPr>
        <p:txBody>
          <a:bodyPr wrap="square" lIns="0" tIns="0" rIns="0" bIns="0" rtlCol="0" anchor="ctr"/>
          <a:lstStyle/>
          <a:p>
            <a:pPr indent="0" marL="0">
              <a:lnSpc>
                <a:spcPct val="130000"/>
              </a:lnSpc>
              <a:buNone/>
            </a:pPr>
            <a:r>
              <a:rPr lang="en-US" sz="1300" dirty="0">
                <a:solidFill>
                  <a:srgbClr val="55504C"/>
                </a:solidFill>
                <a:latin typeface="Helvetica Neue" pitchFamily="34" charset="0"/>
                <a:ea typeface="Helvetica Neue" pitchFamily="34" charset="-122"/>
                <a:cs typeface="Helvetica Neue" pitchFamily="34" charset="-120"/>
              </a:rPr>
              <a:t>Batched sub-cent x402 nanopayments settle each view.</a:t>
            </a:r>
            <a:endParaRPr lang="en-US" sz="1300" dirty="0"/>
          </a:p>
        </p:txBody>
      </p:sp>
      <p:sp>
        <p:nvSpPr>
          <p:cNvPr id="8" name="Text 6"/>
          <p:cNvSpPr/>
          <p:nvPr/>
        </p:nvSpPr>
        <p:spPr>
          <a:xfrm>
            <a:off x="4343400" y="2240280"/>
            <a:ext cx="914400" cy="365760"/>
          </a:xfrm>
          <a:prstGeom prst="rect">
            <a:avLst/>
          </a:prstGeom>
          <a:noFill/>
          <a:ln/>
        </p:spPr>
        <p:txBody>
          <a:bodyPr wrap="square" lIns="0" tIns="0" rIns="0" bIns="0" rtlCol="0" anchor="ctr"/>
          <a:lstStyle/>
          <a:p>
            <a:pPr indent="0" marL="0">
              <a:buNone/>
            </a:pPr>
            <a:r>
              <a:rPr lang="en-US" sz="1300" spc="100" kern="0" dirty="0">
                <a:solidFill>
                  <a:srgbClr val="E8492B"/>
                </a:solidFill>
                <a:latin typeface="PT Mono" pitchFamily="34" charset="0"/>
                <a:ea typeface="PT Mono" pitchFamily="34" charset="-122"/>
                <a:cs typeface="PT Mono" pitchFamily="34" charset="-120"/>
              </a:rPr>
              <a:t>02</a:t>
            </a:r>
            <a:endParaRPr lang="en-US" sz="1300" dirty="0"/>
          </a:p>
        </p:txBody>
      </p:sp>
      <p:sp>
        <p:nvSpPr>
          <p:cNvPr id="9" name="Text 7"/>
          <p:cNvSpPr/>
          <p:nvPr/>
        </p:nvSpPr>
        <p:spPr>
          <a:xfrm>
            <a:off x="4343400" y="2606040"/>
            <a:ext cx="3337560" cy="365760"/>
          </a:xfrm>
          <a:prstGeom prst="rect">
            <a:avLst/>
          </a:prstGeom>
          <a:noFill/>
          <a:ln/>
        </p:spPr>
        <p:txBody>
          <a:bodyPr wrap="square" lIns="0" tIns="0" rIns="0" bIns="0" rtlCol="0" anchor="ctr"/>
          <a:lstStyle/>
          <a:p>
            <a:pPr indent="0" marL="0">
              <a:buNone/>
            </a:pPr>
            <a:r>
              <a:rPr lang="en-US" sz="1500" b="1" spc="100" kern="0" dirty="0">
                <a:solidFill>
                  <a:srgbClr val="1A1A1A"/>
                </a:solidFill>
                <a:latin typeface="PT Mono" pitchFamily="34" charset="0"/>
                <a:ea typeface="PT Mono" pitchFamily="34" charset="-122"/>
                <a:cs typeface="PT Mono" pitchFamily="34" charset="-120"/>
              </a:rPr>
              <a:t>PROGRAMMABLE WALLETS</a:t>
            </a:r>
            <a:endParaRPr lang="en-US" sz="1500" dirty="0"/>
          </a:p>
        </p:txBody>
      </p:sp>
      <p:sp>
        <p:nvSpPr>
          <p:cNvPr id="10" name="Shape 8"/>
          <p:cNvSpPr/>
          <p:nvPr/>
        </p:nvSpPr>
        <p:spPr>
          <a:xfrm>
            <a:off x="4343400" y="2990088"/>
            <a:ext cx="3200400" cy="0"/>
          </a:xfrm>
          <a:prstGeom prst="line">
            <a:avLst/>
          </a:prstGeom>
          <a:noFill/>
          <a:ln w="12700">
            <a:solidFill>
              <a:srgbClr val="D9D2CC"/>
            </a:solidFill>
            <a:prstDash val="solid"/>
          </a:ln>
        </p:spPr>
      </p:sp>
      <p:sp>
        <p:nvSpPr>
          <p:cNvPr id="11" name="Text 9"/>
          <p:cNvSpPr/>
          <p:nvPr/>
        </p:nvSpPr>
        <p:spPr>
          <a:xfrm>
            <a:off x="4343400" y="3099816"/>
            <a:ext cx="3200400" cy="822960"/>
          </a:xfrm>
          <a:prstGeom prst="rect">
            <a:avLst/>
          </a:prstGeom>
          <a:noFill/>
          <a:ln/>
        </p:spPr>
        <p:txBody>
          <a:bodyPr wrap="square" lIns="0" tIns="0" rIns="0" bIns="0" rtlCol="0" anchor="ctr"/>
          <a:lstStyle/>
          <a:p>
            <a:pPr indent="0" marL="0">
              <a:lnSpc>
                <a:spcPct val="130000"/>
              </a:lnSpc>
              <a:buNone/>
            </a:pPr>
            <a:r>
              <a:rPr lang="en-US" sz="1300" dirty="0">
                <a:solidFill>
                  <a:srgbClr val="55504C"/>
                </a:solidFill>
                <a:latin typeface="Helvetica Neue" pitchFamily="34" charset="0"/>
                <a:ea typeface="Helvetica Neue" pitchFamily="34" charset="-122"/>
                <a:cs typeface="Helvetica Neue" pitchFamily="34" charset="-120"/>
              </a:rPr>
              <a:t>Developer-controlled MPC wallet as creator treasury.</a:t>
            </a:r>
            <a:endParaRPr lang="en-US" sz="1300" dirty="0"/>
          </a:p>
        </p:txBody>
      </p:sp>
      <p:sp>
        <p:nvSpPr>
          <p:cNvPr id="12" name="Text 10"/>
          <p:cNvSpPr/>
          <p:nvPr/>
        </p:nvSpPr>
        <p:spPr>
          <a:xfrm>
            <a:off x="8046720" y="2240280"/>
            <a:ext cx="914400" cy="365760"/>
          </a:xfrm>
          <a:prstGeom prst="rect">
            <a:avLst/>
          </a:prstGeom>
          <a:noFill/>
          <a:ln/>
        </p:spPr>
        <p:txBody>
          <a:bodyPr wrap="square" lIns="0" tIns="0" rIns="0" bIns="0" rtlCol="0" anchor="ctr"/>
          <a:lstStyle/>
          <a:p>
            <a:pPr indent="0" marL="0">
              <a:buNone/>
            </a:pPr>
            <a:r>
              <a:rPr lang="en-US" sz="1300" spc="100" kern="0" dirty="0">
                <a:solidFill>
                  <a:srgbClr val="E8492B"/>
                </a:solidFill>
                <a:latin typeface="PT Mono" pitchFamily="34" charset="0"/>
                <a:ea typeface="PT Mono" pitchFamily="34" charset="-122"/>
                <a:cs typeface="PT Mono" pitchFamily="34" charset="-120"/>
              </a:rPr>
              <a:t>03</a:t>
            </a:r>
            <a:endParaRPr lang="en-US" sz="1300" dirty="0"/>
          </a:p>
        </p:txBody>
      </p:sp>
      <p:sp>
        <p:nvSpPr>
          <p:cNvPr id="13" name="Text 11"/>
          <p:cNvSpPr/>
          <p:nvPr/>
        </p:nvSpPr>
        <p:spPr>
          <a:xfrm>
            <a:off x="8046720" y="2606040"/>
            <a:ext cx="3337560" cy="365760"/>
          </a:xfrm>
          <a:prstGeom prst="rect">
            <a:avLst/>
          </a:prstGeom>
          <a:noFill/>
          <a:ln/>
        </p:spPr>
        <p:txBody>
          <a:bodyPr wrap="square" lIns="0" tIns="0" rIns="0" bIns="0" rtlCol="0" anchor="ctr"/>
          <a:lstStyle/>
          <a:p>
            <a:pPr indent="0" marL="0">
              <a:buNone/>
            </a:pPr>
            <a:r>
              <a:rPr lang="en-US" sz="1500" b="1" spc="100" kern="0" dirty="0">
                <a:solidFill>
                  <a:srgbClr val="1A1A1A"/>
                </a:solidFill>
                <a:latin typeface="PT Mono" pitchFamily="34" charset="0"/>
                <a:ea typeface="PT Mono" pitchFamily="34" charset="-122"/>
                <a:cs typeface="PT Mono" pitchFamily="34" charset="-120"/>
              </a:rPr>
              <a:t>CCTP V2</a:t>
            </a:r>
            <a:endParaRPr lang="en-US" sz="1500" dirty="0"/>
          </a:p>
        </p:txBody>
      </p:sp>
      <p:sp>
        <p:nvSpPr>
          <p:cNvPr id="14" name="Shape 12"/>
          <p:cNvSpPr/>
          <p:nvPr/>
        </p:nvSpPr>
        <p:spPr>
          <a:xfrm>
            <a:off x="8046720" y="2990088"/>
            <a:ext cx="3200400" cy="0"/>
          </a:xfrm>
          <a:prstGeom prst="line">
            <a:avLst/>
          </a:prstGeom>
          <a:noFill/>
          <a:ln w="12700">
            <a:solidFill>
              <a:srgbClr val="D9D2CC"/>
            </a:solidFill>
            <a:prstDash val="solid"/>
          </a:ln>
        </p:spPr>
      </p:sp>
      <p:sp>
        <p:nvSpPr>
          <p:cNvPr id="15" name="Text 13"/>
          <p:cNvSpPr/>
          <p:nvPr/>
        </p:nvSpPr>
        <p:spPr>
          <a:xfrm>
            <a:off x="8046720" y="3099816"/>
            <a:ext cx="3200400" cy="822960"/>
          </a:xfrm>
          <a:prstGeom prst="rect">
            <a:avLst/>
          </a:prstGeom>
          <a:noFill/>
          <a:ln/>
        </p:spPr>
        <p:txBody>
          <a:bodyPr wrap="square" lIns="0" tIns="0" rIns="0" bIns="0" rtlCol="0" anchor="ctr"/>
          <a:lstStyle/>
          <a:p>
            <a:pPr indent="0" marL="0">
              <a:lnSpc>
                <a:spcPct val="130000"/>
              </a:lnSpc>
              <a:buNone/>
            </a:pPr>
            <a:r>
              <a:rPr lang="en-US" sz="1300" dirty="0">
                <a:solidFill>
                  <a:srgbClr val="55504C"/>
                </a:solidFill>
                <a:latin typeface="Helvetica Neue" pitchFamily="34" charset="0"/>
                <a:ea typeface="Helvetica Neue" pitchFamily="34" charset="-122"/>
                <a:cs typeface="Helvetica Neue" pitchFamily="34" charset="-120"/>
              </a:rPr>
              <a:t>Real USDC round-trip: burn on Arc, mint on Sepolia.</a:t>
            </a:r>
            <a:endParaRPr lang="en-US" sz="1300" dirty="0"/>
          </a:p>
        </p:txBody>
      </p:sp>
      <p:sp>
        <p:nvSpPr>
          <p:cNvPr id="16" name="Text 14"/>
          <p:cNvSpPr/>
          <p:nvPr/>
        </p:nvSpPr>
        <p:spPr>
          <a:xfrm>
            <a:off x="640080" y="4160520"/>
            <a:ext cx="914400" cy="365760"/>
          </a:xfrm>
          <a:prstGeom prst="rect">
            <a:avLst/>
          </a:prstGeom>
          <a:noFill/>
          <a:ln/>
        </p:spPr>
        <p:txBody>
          <a:bodyPr wrap="square" lIns="0" tIns="0" rIns="0" bIns="0" rtlCol="0" anchor="ctr"/>
          <a:lstStyle/>
          <a:p>
            <a:pPr indent="0" marL="0">
              <a:buNone/>
            </a:pPr>
            <a:r>
              <a:rPr lang="en-US" sz="1300" spc="100" kern="0" dirty="0">
                <a:solidFill>
                  <a:srgbClr val="E8492B"/>
                </a:solidFill>
                <a:latin typeface="PT Mono" pitchFamily="34" charset="0"/>
                <a:ea typeface="PT Mono" pitchFamily="34" charset="-122"/>
                <a:cs typeface="PT Mono" pitchFamily="34" charset="-120"/>
              </a:rPr>
              <a:t>04</a:t>
            </a:r>
            <a:endParaRPr lang="en-US" sz="1300" dirty="0"/>
          </a:p>
        </p:txBody>
      </p:sp>
      <p:sp>
        <p:nvSpPr>
          <p:cNvPr id="17" name="Text 15"/>
          <p:cNvSpPr/>
          <p:nvPr/>
        </p:nvSpPr>
        <p:spPr>
          <a:xfrm>
            <a:off x="640080" y="4526280"/>
            <a:ext cx="3337560" cy="365760"/>
          </a:xfrm>
          <a:prstGeom prst="rect">
            <a:avLst/>
          </a:prstGeom>
          <a:noFill/>
          <a:ln/>
        </p:spPr>
        <p:txBody>
          <a:bodyPr wrap="square" lIns="0" tIns="0" rIns="0" bIns="0" rtlCol="0" anchor="ctr"/>
          <a:lstStyle/>
          <a:p>
            <a:pPr indent="0" marL="0">
              <a:buNone/>
            </a:pPr>
            <a:r>
              <a:rPr lang="en-US" sz="1500" b="1" spc="100" kern="0" dirty="0">
                <a:solidFill>
                  <a:srgbClr val="1A1A1A"/>
                </a:solidFill>
                <a:latin typeface="PT Mono" pitchFamily="34" charset="0"/>
                <a:ea typeface="PT Mono" pitchFamily="34" charset="-122"/>
                <a:cs typeface="PT Mono" pitchFamily="34" charset="-120"/>
              </a:rPr>
              <a:t>NATIVE USDC GAS</a:t>
            </a:r>
            <a:endParaRPr lang="en-US" sz="1500" dirty="0"/>
          </a:p>
        </p:txBody>
      </p:sp>
      <p:sp>
        <p:nvSpPr>
          <p:cNvPr id="18" name="Shape 16"/>
          <p:cNvSpPr/>
          <p:nvPr/>
        </p:nvSpPr>
        <p:spPr>
          <a:xfrm>
            <a:off x="640080" y="4910328"/>
            <a:ext cx="3200400" cy="0"/>
          </a:xfrm>
          <a:prstGeom prst="line">
            <a:avLst/>
          </a:prstGeom>
          <a:noFill/>
          <a:ln w="12700">
            <a:solidFill>
              <a:srgbClr val="D9D2CC"/>
            </a:solidFill>
            <a:prstDash val="solid"/>
          </a:ln>
        </p:spPr>
      </p:sp>
      <p:sp>
        <p:nvSpPr>
          <p:cNvPr id="19" name="Text 17"/>
          <p:cNvSpPr/>
          <p:nvPr/>
        </p:nvSpPr>
        <p:spPr>
          <a:xfrm>
            <a:off x="640080" y="5020056"/>
            <a:ext cx="3200400" cy="822960"/>
          </a:xfrm>
          <a:prstGeom prst="rect">
            <a:avLst/>
          </a:prstGeom>
          <a:noFill/>
          <a:ln/>
        </p:spPr>
        <p:txBody>
          <a:bodyPr wrap="square" lIns="0" tIns="0" rIns="0" bIns="0" rtlCol="0" anchor="ctr"/>
          <a:lstStyle/>
          <a:p>
            <a:pPr indent="0" marL="0">
              <a:lnSpc>
                <a:spcPct val="130000"/>
              </a:lnSpc>
              <a:buNone/>
            </a:pPr>
            <a:r>
              <a:rPr lang="en-US" sz="1300" dirty="0">
                <a:solidFill>
                  <a:srgbClr val="55504C"/>
                </a:solidFill>
                <a:latin typeface="Helvetica Neue" pitchFamily="34" charset="0"/>
                <a:ea typeface="Helvetica Neue" pitchFamily="34" charset="-122"/>
                <a:cs typeface="Helvetica Neue" pitchFamily="34" charset="-120"/>
              </a:rPr>
              <a:t>Gas paid in the same dollar creators earn.</a:t>
            </a:r>
            <a:endParaRPr lang="en-US" sz="1300" dirty="0"/>
          </a:p>
        </p:txBody>
      </p:sp>
      <p:sp>
        <p:nvSpPr>
          <p:cNvPr id="20" name="Text 18"/>
          <p:cNvSpPr/>
          <p:nvPr/>
        </p:nvSpPr>
        <p:spPr>
          <a:xfrm>
            <a:off x="4343400" y="4160520"/>
            <a:ext cx="914400" cy="365760"/>
          </a:xfrm>
          <a:prstGeom prst="rect">
            <a:avLst/>
          </a:prstGeom>
          <a:noFill/>
          <a:ln/>
        </p:spPr>
        <p:txBody>
          <a:bodyPr wrap="square" lIns="0" tIns="0" rIns="0" bIns="0" rtlCol="0" anchor="ctr"/>
          <a:lstStyle/>
          <a:p>
            <a:pPr indent="0" marL="0">
              <a:buNone/>
            </a:pPr>
            <a:r>
              <a:rPr lang="en-US" sz="1300" spc="100" kern="0" dirty="0">
                <a:solidFill>
                  <a:srgbClr val="E8492B"/>
                </a:solidFill>
                <a:latin typeface="PT Mono" pitchFamily="34" charset="0"/>
                <a:ea typeface="PT Mono" pitchFamily="34" charset="-122"/>
                <a:cs typeface="PT Mono" pitchFamily="34" charset="-120"/>
              </a:rPr>
              <a:t>05</a:t>
            </a:r>
            <a:endParaRPr lang="en-US" sz="1300" dirty="0"/>
          </a:p>
        </p:txBody>
      </p:sp>
      <p:sp>
        <p:nvSpPr>
          <p:cNvPr id="21" name="Text 19"/>
          <p:cNvSpPr/>
          <p:nvPr/>
        </p:nvSpPr>
        <p:spPr>
          <a:xfrm>
            <a:off x="4343400" y="4526280"/>
            <a:ext cx="3337560" cy="365760"/>
          </a:xfrm>
          <a:prstGeom prst="rect">
            <a:avLst/>
          </a:prstGeom>
          <a:noFill/>
          <a:ln/>
        </p:spPr>
        <p:txBody>
          <a:bodyPr wrap="square" lIns="0" tIns="0" rIns="0" bIns="0" rtlCol="0" anchor="ctr"/>
          <a:lstStyle/>
          <a:p>
            <a:pPr indent="0" marL="0">
              <a:buNone/>
            </a:pPr>
            <a:r>
              <a:rPr lang="en-US" sz="1500" b="1" spc="100" kern="0" dirty="0">
                <a:solidFill>
                  <a:srgbClr val="1A1A1A"/>
                </a:solidFill>
                <a:latin typeface="PT Mono" pitchFamily="34" charset="0"/>
                <a:ea typeface="PT Mono" pitchFamily="34" charset="-122"/>
                <a:cs typeface="PT Mono" pitchFamily="34" charset="-120"/>
              </a:rPr>
              <a:t>STABLEFX</a:t>
            </a:r>
            <a:endParaRPr lang="en-US" sz="1500" dirty="0"/>
          </a:p>
        </p:txBody>
      </p:sp>
      <p:sp>
        <p:nvSpPr>
          <p:cNvPr id="22" name="Shape 20"/>
          <p:cNvSpPr/>
          <p:nvPr/>
        </p:nvSpPr>
        <p:spPr>
          <a:xfrm>
            <a:off x="4343400" y="4910328"/>
            <a:ext cx="3200400" cy="0"/>
          </a:xfrm>
          <a:prstGeom prst="line">
            <a:avLst/>
          </a:prstGeom>
          <a:noFill/>
          <a:ln w="12700">
            <a:solidFill>
              <a:srgbClr val="D9D2CC"/>
            </a:solidFill>
            <a:prstDash val="solid"/>
          </a:ln>
        </p:spPr>
      </p:sp>
      <p:sp>
        <p:nvSpPr>
          <p:cNvPr id="23" name="Text 21"/>
          <p:cNvSpPr/>
          <p:nvPr/>
        </p:nvSpPr>
        <p:spPr>
          <a:xfrm>
            <a:off x="4343400" y="5020056"/>
            <a:ext cx="3200400" cy="822960"/>
          </a:xfrm>
          <a:prstGeom prst="rect">
            <a:avLst/>
          </a:prstGeom>
          <a:noFill/>
          <a:ln/>
        </p:spPr>
        <p:txBody>
          <a:bodyPr wrap="square" lIns="0" tIns="0" rIns="0" bIns="0" rtlCol="0" anchor="ctr"/>
          <a:lstStyle/>
          <a:p>
            <a:pPr indent="0" marL="0">
              <a:lnSpc>
                <a:spcPct val="130000"/>
              </a:lnSpc>
              <a:buNone/>
            </a:pPr>
            <a:r>
              <a:rPr lang="en-US" sz="1300" dirty="0">
                <a:solidFill>
                  <a:srgbClr val="55504C"/>
                </a:solidFill>
                <a:latin typeface="Helvetica Neue" pitchFamily="34" charset="0"/>
                <a:ea typeface="Helvetica Neue" pitchFamily="34" charset="-122"/>
                <a:cs typeface="Helvetica Neue" pitchFamily="34" charset="-120"/>
              </a:rPr>
              <a:t>Route USDC payouts into EURC for local currency.</a:t>
            </a:r>
            <a:endParaRPr lang="en-US" sz="1300" dirty="0"/>
          </a:p>
        </p:txBody>
      </p:sp>
      <p:sp>
        <p:nvSpPr>
          <p:cNvPr id="24" name="Text 22"/>
          <p:cNvSpPr/>
          <p:nvPr/>
        </p:nvSpPr>
        <p:spPr>
          <a:xfrm>
            <a:off x="8046720" y="4160520"/>
            <a:ext cx="914400" cy="365760"/>
          </a:xfrm>
          <a:prstGeom prst="rect">
            <a:avLst/>
          </a:prstGeom>
          <a:noFill/>
          <a:ln/>
        </p:spPr>
        <p:txBody>
          <a:bodyPr wrap="square" lIns="0" tIns="0" rIns="0" bIns="0" rtlCol="0" anchor="ctr"/>
          <a:lstStyle/>
          <a:p>
            <a:pPr indent="0" marL="0">
              <a:buNone/>
            </a:pPr>
            <a:r>
              <a:rPr lang="en-US" sz="1300" spc="100" kern="0" dirty="0">
                <a:solidFill>
                  <a:srgbClr val="E8492B"/>
                </a:solidFill>
                <a:latin typeface="PT Mono" pitchFamily="34" charset="0"/>
                <a:ea typeface="PT Mono" pitchFamily="34" charset="-122"/>
                <a:cs typeface="PT Mono" pitchFamily="34" charset="-120"/>
              </a:rPr>
              <a:t>06</a:t>
            </a:r>
            <a:endParaRPr lang="en-US" sz="1300" dirty="0"/>
          </a:p>
        </p:txBody>
      </p:sp>
      <p:sp>
        <p:nvSpPr>
          <p:cNvPr id="25" name="Text 23"/>
          <p:cNvSpPr/>
          <p:nvPr/>
        </p:nvSpPr>
        <p:spPr>
          <a:xfrm>
            <a:off x="8046720" y="4526280"/>
            <a:ext cx="3337560" cy="365760"/>
          </a:xfrm>
          <a:prstGeom prst="rect">
            <a:avLst/>
          </a:prstGeom>
          <a:noFill/>
          <a:ln/>
        </p:spPr>
        <p:txBody>
          <a:bodyPr wrap="square" lIns="0" tIns="0" rIns="0" bIns="0" rtlCol="0" anchor="ctr"/>
          <a:lstStyle/>
          <a:p>
            <a:pPr indent="0" marL="0">
              <a:buNone/>
            </a:pPr>
            <a:r>
              <a:rPr lang="en-US" sz="1500" b="1" spc="100" kern="0" dirty="0">
                <a:solidFill>
                  <a:srgbClr val="1A1A1A"/>
                </a:solidFill>
                <a:latin typeface="PT Mono" pitchFamily="34" charset="0"/>
                <a:ea typeface="PT Mono" pitchFamily="34" charset="-122"/>
                <a:cs typeface="PT Mono" pitchFamily="34" charset="-120"/>
              </a:rPr>
              <a:t>USYC TREASURY</a:t>
            </a:r>
            <a:endParaRPr lang="en-US" sz="1500" dirty="0"/>
          </a:p>
        </p:txBody>
      </p:sp>
      <p:sp>
        <p:nvSpPr>
          <p:cNvPr id="26" name="Shape 24"/>
          <p:cNvSpPr/>
          <p:nvPr/>
        </p:nvSpPr>
        <p:spPr>
          <a:xfrm>
            <a:off x="8046720" y="4910328"/>
            <a:ext cx="3200400" cy="0"/>
          </a:xfrm>
          <a:prstGeom prst="line">
            <a:avLst/>
          </a:prstGeom>
          <a:noFill/>
          <a:ln w="12700">
            <a:solidFill>
              <a:srgbClr val="D9D2CC"/>
            </a:solidFill>
            <a:prstDash val="solid"/>
          </a:ln>
        </p:spPr>
      </p:sp>
      <p:sp>
        <p:nvSpPr>
          <p:cNvPr id="27" name="Text 25"/>
          <p:cNvSpPr/>
          <p:nvPr/>
        </p:nvSpPr>
        <p:spPr>
          <a:xfrm>
            <a:off x="8046720" y="5020056"/>
            <a:ext cx="3200400" cy="822960"/>
          </a:xfrm>
          <a:prstGeom prst="rect">
            <a:avLst/>
          </a:prstGeom>
          <a:noFill/>
          <a:ln/>
        </p:spPr>
        <p:txBody>
          <a:bodyPr wrap="square" lIns="0" tIns="0" rIns="0" bIns="0" rtlCol="0" anchor="ctr"/>
          <a:lstStyle/>
          <a:p>
            <a:pPr indent="0" marL="0">
              <a:lnSpc>
                <a:spcPct val="130000"/>
              </a:lnSpc>
              <a:buNone/>
            </a:pPr>
            <a:r>
              <a:rPr lang="en-US" sz="1300" dirty="0">
                <a:solidFill>
                  <a:srgbClr val="55504C"/>
                </a:solidFill>
                <a:latin typeface="Helvetica Neue" pitchFamily="34" charset="0"/>
                <a:ea typeface="Helvetica Neue" pitchFamily="34" charset="-122"/>
                <a:cs typeface="Helvetica Neue" pitchFamily="34" charset="-120"/>
              </a:rPr>
              <a:t>Idle creator earnings can flow into on-chain yield.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456432"/>
          </a:xfrm>
          <a:prstGeom prst="rect">
            <a:avLst/>
          </a:prstGeom>
          <a:solidFill>
            <a:srgbClr val="000000"/>
          </a:solidFill>
          <a:ln/>
        </p:spPr>
      </p:sp>
      <p:sp>
        <p:nvSpPr>
          <p:cNvPr id="3" name="Text 1"/>
          <p:cNvSpPr/>
          <p:nvPr/>
        </p:nvSpPr>
        <p:spPr>
          <a:xfrm>
            <a:off x="640080" y="502920"/>
            <a:ext cx="10058400" cy="274320"/>
          </a:xfrm>
          <a:prstGeom prst="rect">
            <a:avLst/>
          </a:prstGeom>
          <a:noFill/>
          <a:ln/>
        </p:spPr>
        <p:txBody>
          <a:bodyPr wrap="square" lIns="0" tIns="0" rIns="0" bIns="0" rtlCol="0" anchor="ctr"/>
          <a:lstStyle/>
          <a:p>
            <a:pPr indent="0" marL="0">
              <a:buNone/>
            </a:pPr>
            <a:r>
              <a:rPr lang="en-US" sz="1300" spc="300" kern="0" dirty="0">
                <a:solidFill>
                  <a:srgbClr val="FFFFFF"/>
                </a:solidFill>
                <a:latin typeface="PT Mono" pitchFamily="34" charset="0"/>
                <a:ea typeface="PT Mono" pitchFamily="34" charset="-122"/>
                <a:cs typeface="PT Mono" pitchFamily="34" charset="-120"/>
              </a:rPr>
              <a:t>MARKET OPPORTUNITY</a:t>
            </a:r>
            <a:endParaRPr lang="en-US" sz="1300" dirty="0"/>
          </a:p>
        </p:txBody>
      </p:sp>
      <p:sp>
        <p:nvSpPr>
          <p:cNvPr id="4" name="Text 2"/>
          <p:cNvSpPr/>
          <p:nvPr/>
        </p:nvSpPr>
        <p:spPr>
          <a:xfrm>
            <a:off x="5120640" y="502920"/>
            <a:ext cx="6446520" cy="1554480"/>
          </a:xfrm>
          <a:prstGeom prst="rect">
            <a:avLst/>
          </a:prstGeom>
          <a:noFill/>
          <a:ln/>
        </p:spPr>
        <p:txBody>
          <a:bodyPr wrap="square" lIns="0" tIns="0" rIns="0" bIns="0" rtlCol="0" anchor="ctr"/>
          <a:lstStyle/>
          <a:p>
            <a:pPr algn="r" indent="0" marL="0">
              <a:buNone/>
            </a:pPr>
            <a:r>
              <a:rPr lang="en-US" sz="9600" b="1" dirty="0">
                <a:solidFill>
                  <a:srgbClr val="FFFFFF"/>
                </a:solidFill>
                <a:latin typeface="PT Mono" pitchFamily="34" charset="0"/>
                <a:ea typeface="PT Mono" pitchFamily="34" charset="-122"/>
                <a:cs typeface="PT Mono" pitchFamily="34" charset="-120"/>
              </a:rPr>
              <a:t>$480B</a:t>
            </a:r>
            <a:endParaRPr lang="en-US" sz="9600" dirty="0"/>
          </a:p>
        </p:txBody>
      </p:sp>
      <p:sp>
        <p:nvSpPr>
          <p:cNvPr id="5" name="Shape 3"/>
          <p:cNvSpPr/>
          <p:nvPr/>
        </p:nvSpPr>
        <p:spPr>
          <a:xfrm>
            <a:off x="5486400" y="2212848"/>
            <a:ext cx="6080760" cy="0"/>
          </a:xfrm>
          <a:prstGeom prst="line">
            <a:avLst/>
          </a:prstGeom>
          <a:noFill/>
          <a:ln w="12700">
            <a:solidFill>
              <a:srgbClr val="4A4A4A"/>
            </a:solidFill>
            <a:prstDash val="solid"/>
          </a:ln>
        </p:spPr>
      </p:sp>
      <p:sp>
        <p:nvSpPr>
          <p:cNvPr id="6" name="Text 4"/>
          <p:cNvSpPr/>
          <p:nvPr/>
        </p:nvSpPr>
        <p:spPr>
          <a:xfrm>
            <a:off x="5532120" y="2331720"/>
            <a:ext cx="6035040" cy="868680"/>
          </a:xfrm>
          <a:prstGeom prst="rect">
            <a:avLst/>
          </a:prstGeom>
          <a:noFill/>
          <a:ln/>
        </p:spPr>
        <p:txBody>
          <a:bodyPr wrap="square" lIns="0" tIns="0" rIns="0" bIns="0" rtlCol="0" anchor="ctr"/>
          <a:lstStyle/>
          <a:p>
            <a:pPr algn="l" indent="0" marL="0">
              <a:lnSpc>
                <a:spcPct val="130000"/>
              </a:lnSpc>
              <a:buNone/>
            </a:pPr>
            <a:r>
              <a:rPr lang="en-US" sz="1400" dirty="0">
                <a:solidFill>
                  <a:srgbClr val="CFCFCF"/>
                </a:solidFill>
                <a:latin typeface="Helvetica Neue" pitchFamily="34" charset="0"/>
                <a:ea typeface="Helvetica Neue" pitchFamily="34" charset="-122"/>
                <a:cs typeface="Helvetica Neue" pitchFamily="34" charset="-120"/>
              </a:rPr>
              <a:t>The creator economy is projected to nearly double — to roughly USD 480 billion by 2027 — as audiences and creators move online.</a:t>
            </a:r>
            <a:endParaRPr lang="en-US" sz="1400" dirty="0"/>
          </a:p>
        </p:txBody>
      </p:sp>
      <p:sp>
        <p:nvSpPr>
          <p:cNvPr id="7" name="Text 5"/>
          <p:cNvSpPr/>
          <p:nvPr/>
        </p:nvSpPr>
        <p:spPr>
          <a:xfrm>
            <a:off x="640080" y="2395728"/>
            <a:ext cx="5943600" cy="365760"/>
          </a:xfrm>
          <a:prstGeom prst="rect">
            <a:avLst/>
          </a:prstGeom>
          <a:noFill/>
          <a:ln/>
        </p:spPr>
        <p:txBody>
          <a:bodyPr wrap="square" lIns="0" tIns="0" rIns="0" bIns="0" rtlCol="0" anchor="ctr"/>
          <a:lstStyle/>
          <a:p>
            <a:pPr indent="0" marL="0">
              <a:buNone/>
            </a:pPr>
            <a:r>
              <a:rPr lang="en-US" sz="1250" dirty="0">
                <a:solidFill>
                  <a:srgbClr val="FFFFFF"/>
                </a:solidFill>
                <a:latin typeface="PT Mono" pitchFamily="34" charset="0"/>
                <a:ea typeface="PT Mono" pitchFamily="34" charset="-122"/>
                <a:cs typeface="PT Mono" pitchFamily="34" charset="-120"/>
              </a:rPr>
              <a:t>PROJECTED GROWTH OF THE CREATOR ECONOMY (2023–2027)</a:t>
            </a:r>
            <a:endParaRPr lang="en-US" sz="1250" dirty="0"/>
          </a:p>
        </p:txBody>
      </p:sp>
      <p:sp>
        <p:nvSpPr>
          <p:cNvPr id="8" name="Text 6"/>
          <p:cNvSpPr/>
          <p:nvPr/>
        </p:nvSpPr>
        <p:spPr>
          <a:xfrm>
            <a:off x="640080" y="2816352"/>
            <a:ext cx="5943600" cy="320040"/>
          </a:xfrm>
          <a:prstGeom prst="rect">
            <a:avLst/>
          </a:prstGeom>
          <a:noFill/>
          <a:ln/>
        </p:spPr>
        <p:txBody>
          <a:bodyPr wrap="square" lIns="0" tIns="0" rIns="0" bIns="0" rtlCol="0" anchor="ctr"/>
          <a:lstStyle/>
          <a:p>
            <a:pPr indent="0" marL="0">
              <a:buNone/>
            </a:pPr>
            <a:r>
              <a:rPr lang="en-US" sz="1250" dirty="0">
                <a:solidFill>
                  <a:srgbClr val="C9C9C9"/>
                </a:solidFill>
                <a:latin typeface="Helvetica Neue" pitchFamily="34" charset="0"/>
                <a:ea typeface="Helvetica Neue" pitchFamily="34" charset="-122"/>
                <a:cs typeface="Helvetica Neue" pitchFamily="34" charset="-120"/>
              </a:rPr>
              <a:t>Data source: Goldman Sachs Research, 2023</a:t>
            </a:r>
            <a:endParaRPr lang="en-US" sz="1250" dirty="0"/>
          </a:p>
        </p:txBody>
      </p:sp>
      <p:pic>
        <p:nvPicPr>
          <p:cNvPr id="9" name="Image 0" descr="preencoded.png">    </p:cNvPr>
          <p:cNvPicPr>
            <a:picLocks noChangeAspect="1"/>
          </p:cNvPicPr>
          <p:nvPr/>
        </p:nvPicPr>
        <p:blipFill>
          <a:blip r:embed="rId1"/>
          <a:stretch>
            <a:fillRect/>
          </a:stretch>
        </p:blipFill>
        <p:spPr>
          <a:xfrm>
            <a:off x="0" y="3456432"/>
            <a:ext cx="12191695" cy="3401568"/>
          </a:xfrm>
          <a:prstGeom prst="rect">
            <a:avLst/>
          </a:prstGeom>
        </p:spPr>
      </p:pic>
      <p:sp>
        <p:nvSpPr>
          <p:cNvPr id="10" name="Text 7"/>
          <p:cNvSpPr/>
          <p:nvPr/>
        </p:nvSpPr>
        <p:spPr>
          <a:xfrm>
            <a:off x="1082010" y="5744627"/>
            <a:ext cx="1828800" cy="274320"/>
          </a:xfrm>
          <a:prstGeom prst="rect">
            <a:avLst/>
          </a:prstGeom>
          <a:noFill/>
          <a:ln/>
        </p:spPr>
        <p:txBody>
          <a:bodyPr wrap="square" lIns="0" tIns="0" rIns="0" bIns="0" rtlCol="0" anchor="ctr"/>
          <a:lstStyle/>
          <a:p>
            <a:pPr indent="0" marL="0">
              <a:buNone/>
            </a:pPr>
            <a:r>
              <a:rPr lang="en-US" sz="1250" dirty="0">
                <a:solidFill>
                  <a:srgbClr val="8A8A8A"/>
                </a:solidFill>
                <a:latin typeface="PT Mono" pitchFamily="34" charset="0"/>
                <a:ea typeface="PT Mono" pitchFamily="34" charset="-122"/>
                <a:cs typeface="PT Mono" pitchFamily="34" charset="-120"/>
              </a:rPr>
              <a:t>2023</a:t>
            </a:r>
            <a:endParaRPr lang="en-US" sz="1250" dirty="0"/>
          </a:p>
        </p:txBody>
      </p:sp>
      <p:sp>
        <p:nvSpPr>
          <p:cNvPr id="11" name="Text 8"/>
          <p:cNvSpPr/>
          <p:nvPr/>
        </p:nvSpPr>
        <p:spPr>
          <a:xfrm>
            <a:off x="1082010" y="5982371"/>
            <a:ext cx="1828800" cy="457200"/>
          </a:xfrm>
          <a:prstGeom prst="rect">
            <a:avLst/>
          </a:prstGeom>
          <a:noFill/>
          <a:ln/>
        </p:spPr>
        <p:txBody>
          <a:bodyPr wrap="square" lIns="0" tIns="0" rIns="0" bIns="0" rtlCol="0" anchor="ctr"/>
          <a:lstStyle/>
          <a:p>
            <a:pPr indent="0" marL="0">
              <a:buNone/>
            </a:pPr>
            <a:r>
              <a:rPr lang="en-US" sz="2500" b="1" dirty="0">
                <a:solidFill>
                  <a:srgbClr val="1A1A1A"/>
                </a:solidFill>
                <a:latin typeface="PT Mono" pitchFamily="34" charset="0"/>
                <a:ea typeface="PT Mono" pitchFamily="34" charset="-122"/>
                <a:cs typeface="PT Mono" pitchFamily="34" charset="-120"/>
              </a:rPr>
              <a:t>$250B</a:t>
            </a:r>
            <a:endParaRPr lang="en-US" sz="2500" dirty="0"/>
          </a:p>
        </p:txBody>
      </p:sp>
      <p:sp>
        <p:nvSpPr>
          <p:cNvPr id="12" name="Text 9"/>
          <p:cNvSpPr/>
          <p:nvPr/>
        </p:nvSpPr>
        <p:spPr>
          <a:xfrm>
            <a:off x="3520349" y="5286154"/>
            <a:ext cx="1828800" cy="274320"/>
          </a:xfrm>
          <a:prstGeom prst="rect">
            <a:avLst/>
          </a:prstGeom>
          <a:noFill/>
          <a:ln/>
        </p:spPr>
        <p:txBody>
          <a:bodyPr wrap="square" lIns="0" tIns="0" rIns="0" bIns="0" rtlCol="0" anchor="ctr"/>
          <a:lstStyle/>
          <a:p>
            <a:pPr indent="0" marL="0">
              <a:buNone/>
            </a:pPr>
            <a:r>
              <a:rPr lang="en-US" sz="1250" dirty="0">
                <a:solidFill>
                  <a:srgbClr val="8A8A8A"/>
                </a:solidFill>
                <a:latin typeface="PT Mono" pitchFamily="34" charset="0"/>
                <a:ea typeface="PT Mono" pitchFamily="34" charset="-122"/>
                <a:cs typeface="PT Mono" pitchFamily="34" charset="-120"/>
              </a:rPr>
              <a:t>2024</a:t>
            </a:r>
            <a:endParaRPr lang="en-US" sz="1250" dirty="0"/>
          </a:p>
        </p:txBody>
      </p:sp>
      <p:sp>
        <p:nvSpPr>
          <p:cNvPr id="13" name="Text 10"/>
          <p:cNvSpPr/>
          <p:nvPr/>
        </p:nvSpPr>
        <p:spPr>
          <a:xfrm>
            <a:off x="3520349" y="5523898"/>
            <a:ext cx="1828800" cy="457200"/>
          </a:xfrm>
          <a:prstGeom prst="rect">
            <a:avLst/>
          </a:prstGeom>
          <a:noFill/>
          <a:ln/>
        </p:spPr>
        <p:txBody>
          <a:bodyPr wrap="square" lIns="0" tIns="0" rIns="0" bIns="0" rtlCol="0" anchor="ctr"/>
          <a:lstStyle/>
          <a:p>
            <a:pPr indent="0" marL="0">
              <a:buNone/>
            </a:pPr>
            <a:r>
              <a:rPr lang="en-US" sz="2500" b="1" dirty="0">
                <a:solidFill>
                  <a:srgbClr val="1A1A1A"/>
                </a:solidFill>
                <a:latin typeface="PT Mono" pitchFamily="34" charset="0"/>
                <a:ea typeface="PT Mono" pitchFamily="34" charset="-122"/>
                <a:cs typeface="PT Mono" pitchFamily="34" charset="-120"/>
              </a:rPr>
              <a:t>$300B</a:t>
            </a:r>
            <a:endParaRPr lang="en-US" sz="2500" dirty="0"/>
          </a:p>
        </p:txBody>
      </p:sp>
      <p:sp>
        <p:nvSpPr>
          <p:cNvPr id="14" name="Text 11"/>
          <p:cNvSpPr/>
          <p:nvPr/>
        </p:nvSpPr>
        <p:spPr>
          <a:xfrm>
            <a:off x="5958688" y="4827682"/>
            <a:ext cx="1828800" cy="274320"/>
          </a:xfrm>
          <a:prstGeom prst="rect">
            <a:avLst/>
          </a:prstGeom>
          <a:noFill/>
          <a:ln/>
        </p:spPr>
        <p:txBody>
          <a:bodyPr wrap="square" lIns="0" tIns="0" rIns="0" bIns="0" rtlCol="0" anchor="ctr"/>
          <a:lstStyle/>
          <a:p>
            <a:pPr indent="0" marL="0">
              <a:buNone/>
            </a:pPr>
            <a:r>
              <a:rPr lang="en-US" sz="1250" dirty="0">
                <a:solidFill>
                  <a:srgbClr val="8A8A8A"/>
                </a:solidFill>
                <a:latin typeface="PT Mono" pitchFamily="34" charset="0"/>
                <a:ea typeface="PT Mono" pitchFamily="34" charset="-122"/>
                <a:cs typeface="PT Mono" pitchFamily="34" charset="-120"/>
              </a:rPr>
              <a:t>2025</a:t>
            </a:r>
            <a:endParaRPr lang="en-US" sz="1250" dirty="0"/>
          </a:p>
        </p:txBody>
      </p:sp>
      <p:sp>
        <p:nvSpPr>
          <p:cNvPr id="15" name="Text 12"/>
          <p:cNvSpPr/>
          <p:nvPr/>
        </p:nvSpPr>
        <p:spPr>
          <a:xfrm>
            <a:off x="5958688" y="5065426"/>
            <a:ext cx="1828800" cy="457200"/>
          </a:xfrm>
          <a:prstGeom prst="rect">
            <a:avLst/>
          </a:prstGeom>
          <a:noFill/>
          <a:ln/>
        </p:spPr>
        <p:txBody>
          <a:bodyPr wrap="square" lIns="0" tIns="0" rIns="0" bIns="0" rtlCol="0" anchor="ctr"/>
          <a:lstStyle/>
          <a:p>
            <a:pPr indent="0" marL="0">
              <a:buNone/>
            </a:pPr>
            <a:r>
              <a:rPr lang="en-US" sz="2500" b="1" dirty="0">
                <a:solidFill>
                  <a:srgbClr val="1A1A1A"/>
                </a:solidFill>
                <a:latin typeface="PT Mono" pitchFamily="34" charset="0"/>
                <a:ea typeface="PT Mono" pitchFamily="34" charset="-122"/>
                <a:cs typeface="PT Mono" pitchFamily="34" charset="-120"/>
              </a:rPr>
              <a:t>$350B</a:t>
            </a:r>
            <a:endParaRPr lang="en-US" sz="2500" dirty="0"/>
          </a:p>
        </p:txBody>
      </p:sp>
      <p:sp>
        <p:nvSpPr>
          <p:cNvPr id="16" name="Text 13"/>
          <p:cNvSpPr/>
          <p:nvPr/>
        </p:nvSpPr>
        <p:spPr>
          <a:xfrm>
            <a:off x="8397027" y="4277515"/>
            <a:ext cx="1828800" cy="274320"/>
          </a:xfrm>
          <a:prstGeom prst="rect">
            <a:avLst/>
          </a:prstGeom>
          <a:noFill/>
          <a:ln/>
        </p:spPr>
        <p:txBody>
          <a:bodyPr wrap="square" lIns="0" tIns="0" rIns="0" bIns="0" rtlCol="0" anchor="ctr"/>
          <a:lstStyle/>
          <a:p>
            <a:pPr indent="0" marL="0">
              <a:buNone/>
            </a:pPr>
            <a:r>
              <a:rPr lang="en-US" sz="1250" dirty="0">
                <a:solidFill>
                  <a:srgbClr val="8A8A8A"/>
                </a:solidFill>
                <a:latin typeface="PT Mono" pitchFamily="34" charset="0"/>
                <a:ea typeface="PT Mono" pitchFamily="34" charset="-122"/>
                <a:cs typeface="PT Mono" pitchFamily="34" charset="-120"/>
              </a:rPr>
              <a:t>2026</a:t>
            </a:r>
            <a:endParaRPr lang="en-US" sz="1250" dirty="0"/>
          </a:p>
        </p:txBody>
      </p:sp>
      <p:sp>
        <p:nvSpPr>
          <p:cNvPr id="17" name="Text 14"/>
          <p:cNvSpPr/>
          <p:nvPr/>
        </p:nvSpPr>
        <p:spPr>
          <a:xfrm>
            <a:off x="8397027" y="4515259"/>
            <a:ext cx="1828800" cy="457200"/>
          </a:xfrm>
          <a:prstGeom prst="rect">
            <a:avLst/>
          </a:prstGeom>
          <a:noFill/>
          <a:ln/>
        </p:spPr>
        <p:txBody>
          <a:bodyPr wrap="square" lIns="0" tIns="0" rIns="0" bIns="0" rtlCol="0" anchor="ctr"/>
          <a:lstStyle/>
          <a:p>
            <a:pPr indent="0" marL="0">
              <a:buNone/>
            </a:pPr>
            <a:r>
              <a:rPr lang="en-US" sz="2500" b="1" dirty="0">
                <a:solidFill>
                  <a:srgbClr val="1A1A1A"/>
                </a:solidFill>
                <a:latin typeface="PT Mono" pitchFamily="34" charset="0"/>
                <a:ea typeface="PT Mono" pitchFamily="34" charset="-122"/>
                <a:cs typeface="PT Mono" pitchFamily="34" charset="-120"/>
              </a:rPr>
              <a:t>$410B</a:t>
            </a:r>
            <a:endParaRPr lang="en-US" sz="2500" dirty="0"/>
          </a:p>
        </p:txBody>
      </p:sp>
      <p:sp>
        <p:nvSpPr>
          <p:cNvPr id="18" name="Text 15"/>
          <p:cNvSpPr/>
          <p:nvPr/>
        </p:nvSpPr>
        <p:spPr>
          <a:xfrm>
            <a:off x="10835366" y="3635654"/>
            <a:ext cx="1828800" cy="274320"/>
          </a:xfrm>
          <a:prstGeom prst="rect">
            <a:avLst/>
          </a:prstGeom>
          <a:noFill/>
          <a:ln/>
        </p:spPr>
        <p:txBody>
          <a:bodyPr wrap="square" lIns="0" tIns="0" rIns="0" bIns="0" rtlCol="0" anchor="ctr"/>
          <a:lstStyle/>
          <a:p>
            <a:pPr indent="0" marL="0">
              <a:buNone/>
            </a:pPr>
            <a:r>
              <a:rPr lang="en-US" sz="1250" dirty="0">
                <a:solidFill>
                  <a:srgbClr val="8A8A8A"/>
                </a:solidFill>
                <a:latin typeface="PT Mono" pitchFamily="34" charset="0"/>
                <a:ea typeface="PT Mono" pitchFamily="34" charset="-122"/>
                <a:cs typeface="PT Mono" pitchFamily="34" charset="-120"/>
              </a:rPr>
              <a:t>2027</a:t>
            </a:r>
            <a:endParaRPr lang="en-US" sz="1250" dirty="0"/>
          </a:p>
        </p:txBody>
      </p:sp>
      <p:sp>
        <p:nvSpPr>
          <p:cNvPr id="19" name="Text 16"/>
          <p:cNvSpPr/>
          <p:nvPr/>
        </p:nvSpPr>
        <p:spPr>
          <a:xfrm>
            <a:off x="10835366" y="3873398"/>
            <a:ext cx="1828800" cy="457200"/>
          </a:xfrm>
          <a:prstGeom prst="rect">
            <a:avLst/>
          </a:prstGeom>
          <a:noFill/>
          <a:ln/>
        </p:spPr>
        <p:txBody>
          <a:bodyPr wrap="square" lIns="0" tIns="0" rIns="0" bIns="0" rtlCol="0" anchor="ctr"/>
          <a:lstStyle/>
          <a:p>
            <a:pPr indent="0" marL="0">
              <a:buNone/>
            </a:pPr>
            <a:r>
              <a:rPr lang="en-US" sz="2500" b="1" dirty="0">
                <a:solidFill>
                  <a:srgbClr val="1A1A1A"/>
                </a:solidFill>
                <a:latin typeface="PT Mono" pitchFamily="34" charset="0"/>
                <a:ea typeface="PT Mono" pitchFamily="34" charset="-122"/>
                <a:cs typeface="PT Mono" pitchFamily="34" charset="-120"/>
              </a:rPr>
              <a:t>$480B</a:t>
            </a:r>
            <a:endParaRPr lang="en-US" sz="2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D9D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09760" y="-502920"/>
            <a:ext cx="3291840" cy="3063240"/>
          </a:xfrm>
          <a:prstGeom prst="rect">
            <a:avLst/>
          </a:prstGeom>
        </p:spPr>
      </p:pic>
      <p:sp>
        <p:nvSpPr>
          <p:cNvPr id="3" name="Text 0"/>
          <p:cNvSpPr/>
          <p:nvPr/>
        </p:nvSpPr>
        <p:spPr>
          <a:xfrm>
            <a:off x="640080" y="548640"/>
            <a:ext cx="10058400" cy="274320"/>
          </a:xfrm>
          <a:prstGeom prst="rect">
            <a:avLst/>
          </a:prstGeom>
          <a:noFill/>
          <a:ln/>
        </p:spPr>
        <p:txBody>
          <a:bodyPr wrap="square" lIns="0" tIns="0" rIns="0" bIns="0" rtlCol="0" anchor="ctr"/>
          <a:lstStyle/>
          <a:p>
            <a:pPr indent="0" marL="0">
              <a:buNone/>
            </a:pPr>
            <a:r>
              <a:rPr lang="en-US" sz="1300" spc="300" kern="0" dirty="0">
                <a:solidFill>
                  <a:srgbClr val="1A1A1A"/>
                </a:solidFill>
                <a:latin typeface="PT Mono" pitchFamily="34" charset="0"/>
                <a:ea typeface="PT Mono" pitchFamily="34" charset="-122"/>
                <a:cs typeface="PT Mono" pitchFamily="34" charset="-120"/>
              </a:rPr>
              <a:t>REVENUE MODEL</a:t>
            </a:r>
            <a:endParaRPr lang="en-US" sz="1300" dirty="0"/>
          </a:p>
        </p:txBody>
      </p:sp>
      <p:sp>
        <p:nvSpPr>
          <p:cNvPr id="4" name="Shape 1"/>
          <p:cNvSpPr/>
          <p:nvPr/>
        </p:nvSpPr>
        <p:spPr>
          <a:xfrm>
            <a:off x="640080" y="1371600"/>
            <a:ext cx="7498080" cy="1783080"/>
          </a:xfrm>
          <a:prstGeom prst="rect">
            <a:avLst/>
          </a:prstGeom>
          <a:solidFill>
            <a:srgbClr val="FFFFFF"/>
          </a:solidFill>
          <a:ln/>
          <a:effectLst>
            <a:outerShdw sx="100000" sy="100000" kx="0" ky="0" algn="bl" rotWithShape="0" blurRad="127000" dist="38100" dir="5400000">
              <a:srgbClr val="C99080">
                <a:alpha val="30000"/>
              </a:srgbClr>
            </a:outerShdw>
          </a:effectLst>
        </p:spPr>
      </p:sp>
      <p:sp>
        <p:nvSpPr>
          <p:cNvPr id="5" name="Text 2"/>
          <p:cNvSpPr/>
          <p:nvPr/>
        </p:nvSpPr>
        <p:spPr>
          <a:xfrm>
            <a:off x="1097280" y="1591056"/>
            <a:ext cx="6583680" cy="502920"/>
          </a:xfrm>
          <a:prstGeom prst="rect">
            <a:avLst/>
          </a:prstGeom>
          <a:noFill/>
          <a:ln/>
        </p:spPr>
        <p:txBody>
          <a:bodyPr wrap="square" lIns="0" tIns="0" rIns="0" bIns="0" rtlCol="0" anchor="ctr"/>
          <a:lstStyle/>
          <a:p>
            <a:pPr indent="0" marL="0">
              <a:buNone/>
            </a:pPr>
            <a:r>
              <a:rPr lang="en-US" sz="2700" b="1" dirty="0">
                <a:solidFill>
                  <a:srgbClr val="1A1A1A"/>
                </a:solidFill>
                <a:latin typeface="Helvetica Neue" pitchFamily="34" charset="0"/>
                <a:ea typeface="Helvetica Neue" pitchFamily="34" charset="-122"/>
                <a:cs typeface="Helvetica Neue" pitchFamily="34" charset="-120"/>
              </a:rPr>
              <a:t>Protocol take rate</a:t>
            </a:r>
            <a:endParaRPr lang="en-US" sz="2700" dirty="0"/>
          </a:p>
        </p:txBody>
      </p:sp>
      <p:sp>
        <p:nvSpPr>
          <p:cNvPr id="6" name="Shape 3"/>
          <p:cNvSpPr/>
          <p:nvPr/>
        </p:nvSpPr>
        <p:spPr>
          <a:xfrm>
            <a:off x="1115568" y="2212848"/>
            <a:ext cx="6492240" cy="0"/>
          </a:xfrm>
          <a:prstGeom prst="line">
            <a:avLst/>
          </a:prstGeom>
          <a:noFill/>
          <a:ln w="12700">
            <a:solidFill>
              <a:srgbClr val="DAD2CC"/>
            </a:solidFill>
            <a:prstDash val="solid"/>
          </a:ln>
        </p:spPr>
      </p:sp>
      <p:sp>
        <p:nvSpPr>
          <p:cNvPr id="7" name="Text 4"/>
          <p:cNvSpPr/>
          <p:nvPr/>
        </p:nvSpPr>
        <p:spPr>
          <a:xfrm>
            <a:off x="1115568" y="2304288"/>
            <a:ext cx="5120640" cy="457200"/>
          </a:xfrm>
          <a:prstGeom prst="rect">
            <a:avLst/>
          </a:prstGeom>
          <a:noFill/>
          <a:ln/>
        </p:spPr>
        <p:txBody>
          <a:bodyPr wrap="square" lIns="0" tIns="0" rIns="0" bIns="0" rtlCol="0" anchor="ctr"/>
          <a:lstStyle/>
          <a:p>
            <a:pPr indent="0" marL="0">
              <a:lnSpc>
                <a:spcPct val="128000"/>
              </a:lnSpc>
              <a:buNone/>
            </a:pPr>
            <a:r>
              <a:rPr lang="en-US" sz="1300" dirty="0">
                <a:solidFill>
                  <a:srgbClr val="55504C"/>
                </a:solidFill>
                <a:latin typeface="Helvetica Neue" pitchFamily="34" charset="0"/>
                <a:ea typeface="Helvetica Neue" pitchFamily="34" charset="-122"/>
                <a:cs typeface="Helvetica Neue" pitchFamily="34" charset="-120"/>
              </a:rPr>
              <a:t>A thin cut of view-payment volume — scales with usage, never with viewer data.</a:t>
            </a:r>
            <a:endParaRPr lang="en-US" sz="1300" dirty="0"/>
          </a:p>
        </p:txBody>
      </p:sp>
      <p:sp>
        <p:nvSpPr>
          <p:cNvPr id="8" name="Shape 5"/>
          <p:cNvSpPr/>
          <p:nvPr/>
        </p:nvSpPr>
        <p:spPr>
          <a:xfrm>
            <a:off x="1508760" y="2926080"/>
            <a:ext cx="7498080" cy="1783080"/>
          </a:xfrm>
          <a:prstGeom prst="rect">
            <a:avLst/>
          </a:prstGeom>
          <a:solidFill>
            <a:srgbClr val="FFFFFF"/>
          </a:solidFill>
          <a:ln/>
          <a:effectLst>
            <a:outerShdw sx="100000" sy="100000" kx="0" ky="0" algn="bl" rotWithShape="0" blurRad="127000" dist="38100" dir="5400000">
              <a:srgbClr val="C99080">
                <a:alpha val="30000"/>
              </a:srgbClr>
            </a:outerShdw>
          </a:effectLst>
        </p:spPr>
      </p:sp>
      <p:sp>
        <p:nvSpPr>
          <p:cNvPr id="9" name="Text 6"/>
          <p:cNvSpPr/>
          <p:nvPr/>
        </p:nvSpPr>
        <p:spPr>
          <a:xfrm>
            <a:off x="1965960" y="3145536"/>
            <a:ext cx="6583680" cy="502920"/>
          </a:xfrm>
          <a:prstGeom prst="rect">
            <a:avLst/>
          </a:prstGeom>
          <a:noFill/>
          <a:ln/>
        </p:spPr>
        <p:txBody>
          <a:bodyPr wrap="square" lIns="0" tIns="0" rIns="0" bIns="0" rtlCol="0" anchor="ctr"/>
          <a:lstStyle/>
          <a:p>
            <a:pPr indent="0" marL="0">
              <a:buNone/>
            </a:pPr>
            <a:r>
              <a:rPr lang="en-US" sz="2700" b="1" dirty="0">
                <a:solidFill>
                  <a:srgbClr val="1A1A1A"/>
                </a:solidFill>
                <a:latin typeface="Helvetica Neue" pitchFamily="34" charset="0"/>
                <a:ea typeface="Helvetica Neue" pitchFamily="34" charset="-122"/>
                <a:cs typeface="Helvetica Neue" pitchFamily="34" charset="-120"/>
              </a:rPr>
              <a:t>SDK &amp; platform tier</a:t>
            </a:r>
            <a:endParaRPr lang="en-US" sz="2700" dirty="0"/>
          </a:p>
        </p:txBody>
      </p:sp>
      <p:sp>
        <p:nvSpPr>
          <p:cNvPr id="10" name="Shape 7"/>
          <p:cNvSpPr/>
          <p:nvPr/>
        </p:nvSpPr>
        <p:spPr>
          <a:xfrm>
            <a:off x="1984248" y="3767328"/>
            <a:ext cx="6492240" cy="0"/>
          </a:xfrm>
          <a:prstGeom prst="line">
            <a:avLst/>
          </a:prstGeom>
          <a:noFill/>
          <a:ln w="12700">
            <a:solidFill>
              <a:srgbClr val="DAD2CC"/>
            </a:solidFill>
            <a:prstDash val="solid"/>
          </a:ln>
        </p:spPr>
      </p:sp>
      <p:sp>
        <p:nvSpPr>
          <p:cNvPr id="11" name="Text 8"/>
          <p:cNvSpPr/>
          <p:nvPr/>
        </p:nvSpPr>
        <p:spPr>
          <a:xfrm>
            <a:off x="1984248" y="3858768"/>
            <a:ext cx="5120640" cy="457200"/>
          </a:xfrm>
          <a:prstGeom prst="rect">
            <a:avLst/>
          </a:prstGeom>
          <a:noFill/>
          <a:ln/>
        </p:spPr>
        <p:txBody>
          <a:bodyPr wrap="square" lIns="0" tIns="0" rIns="0" bIns="0" rtlCol="0" anchor="ctr"/>
          <a:lstStyle/>
          <a:p>
            <a:pPr indent="0" marL="0">
              <a:lnSpc>
                <a:spcPct val="128000"/>
              </a:lnSpc>
              <a:buNone/>
            </a:pPr>
            <a:r>
              <a:rPr lang="en-US" sz="1300" dirty="0">
                <a:solidFill>
                  <a:srgbClr val="55504C"/>
                </a:solidFill>
                <a:latin typeface="Helvetica Neue" pitchFamily="34" charset="0"/>
                <a:ea typeface="Helvetica Neue" pitchFamily="34" charset="-122"/>
                <a:cs typeface="Helvetica Neue" pitchFamily="34" charset="-120"/>
              </a:rPr>
              <a:t>Premium campaign tooling, analytics, and support for platforms embedding Arclight.</a:t>
            </a:r>
            <a:endParaRPr lang="en-US" sz="1300" dirty="0"/>
          </a:p>
        </p:txBody>
      </p:sp>
      <p:sp>
        <p:nvSpPr>
          <p:cNvPr id="12" name="Shape 9"/>
          <p:cNvSpPr/>
          <p:nvPr/>
        </p:nvSpPr>
        <p:spPr>
          <a:xfrm>
            <a:off x="2377440" y="4480560"/>
            <a:ext cx="7498080" cy="1783080"/>
          </a:xfrm>
          <a:prstGeom prst="rect">
            <a:avLst/>
          </a:prstGeom>
          <a:solidFill>
            <a:srgbClr val="FFFFFF"/>
          </a:solidFill>
          <a:ln/>
          <a:effectLst>
            <a:outerShdw sx="100000" sy="100000" kx="0" ky="0" algn="bl" rotWithShape="0" blurRad="127000" dist="38100" dir="5400000">
              <a:srgbClr val="C99080">
                <a:alpha val="30000"/>
              </a:srgbClr>
            </a:outerShdw>
          </a:effectLst>
        </p:spPr>
      </p:sp>
      <p:sp>
        <p:nvSpPr>
          <p:cNvPr id="13" name="Text 10"/>
          <p:cNvSpPr/>
          <p:nvPr/>
        </p:nvSpPr>
        <p:spPr>
          <a:xfrm>
            <a:off x="2834640" y="4700016"/>
            <a:ext cx="6583680" cy="502920"/>
          </a:xfrm>
          <a:prstGeom prst="rect">
            <a:avLst/>
          </a:prstGeom>
          <a:noFill/>
          <a:ln/>
        </p:spPr>
        <p:txBody>
          <a:bodyPr wrap="square" lIns="0" tIns="0" rIns="0" bIns="0" rtlCol="0" anchor="ctr"/>
          <a:lstStyle/>
          <a:p>
            <a:pPr indent="0" marL="0">
              <a:buNone/>
            </a:pPr>
            <a:r>
              <a:rPr lang="en-US" sz="2700" b="1" dirty="0">
                <a:solidFill>
                  <a:srgbClr val="1A1A1A"/>
                </a:solidFill>
                <a:latin typeface="Helvetica Neue" pitchFamily="34" charset="0"/>
                <a:ea typeface="Helvetica Neue" pitchFamily="34" charset="-122"/>
                <a:cs typeface="Helvetica Neue" pitchFamily="34" charset="-120"/>
              </a:rPr>
              <a:t>Treasury &amp; FX spread</a:t>
            </a:r>
            <a:endParaRPr lang="en-US" sz="2700" dirty="0"/>
          </a:p>
        </p:txBody>
      </p:sp>
      <p:sp>
        <p:nvSpPr>
          <p:cNvPr id="14" name="Shape 11"/>
          <p:cNvSpPr/>
          <p:nvPr/>
        </p:nvSpPr>
        <p:spPr>
          <a:xfrm>
            <a:off x="2852928" y="5321808"/>
            <a:ext cx="6492240" cy="0"/>
          </a:xfrm>
          <a:prstGeom prst="line">
            <a:avLst/>
          </a:prstGeom>
          <a:noFill/>
          <a:ln w="12700">
            <a:solidFill>
              <a:srgbClr val="DAD2CC"/>
            </a:solidFill>
            <a:prstDash val="solid"/>
          </a:ln>
        </p:spPr>
      </p:sp>
      <p:sp>
        <p:nvSpPr>
          <p:cNvPr id="15" name="Text 12"/>
          <p:cNvSpPr/>
          <p:nvPr/>
        </p:nvSpPr>
        <p:spPr>
          <a:xfrm>
            <a:off x="2852928" y="5413248"/>
            <a:ext cx="5120640" cy="457200"/>
          </a:xfrm>
          <a:prstGeom prst="rect">
            <a:avLst/>
          </a:prstGeom>
          <a:noFill/>
          <a:ln/>
        </p:spPr>
        <p:txBody>
          <a:bodyPr wrap="square" lIns="0" tIns="0" rIns="0" bIns="0" rtlCol="0" anchor="ctr"/>
          <a:lstStyle/>
          <a:p>
            <a:pPr indent="0" marL="0">
              <a:lnSpc>
                <a:spcPct val="128000"/>
              </a:lnSpc>
              <a:buNone/>
            </a:pPr>
            <a:r>
              <a:rPr lang="en-US" sz="1300" dirty="0">
                <a:solidFill>
                  <a:srgbClr val="55504C"/>
                </a:solidFill>
                <a:latin typeface="Helvetica Neue" pitchFamily="34" charset="0"/>
                <a:ea typeface="Helvetica Neue" pitchFamily="34" charset="-122"/>
                <a:cs typeface="Helvetica Neue" pitchFamily="34" charset="-120"/>
              </a:rPr>
              <a:t>Managed-wallet, USYC yield, and USDC→EURC routing on top of the core rail.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10058400" cy="274320"/>
          </a:xfrm>
          <a:prstGeom prst="rect">
            <a:avLst/>
          </a:prstGeom>
          <a:noFill/>
          <a:ln/>
        </p:spPr>
        <p:txBody>
          <a:bodyPr wrap="square" lIns="0" tIns="0" rIns="0" bIns="0" rtlCol="0" anchor="ctr"/>
          <a:lstStyle/>
          <a:p>
            <a:pPr indent="0" marL="0">
              <a:buNone/>
            </a:pPr>
            <a:r>
              <a:rPr lang="en-US" sz="1300" spc="300" kern="0" dirty="0">
                <a:solidFill>
                  <a:srgbClr val="E8492B"/>
                </a:solidFill>
                <a:latin typeface="PT Mono" pitchFamily="34" charset="0"/>
                <a:ea typeface="PT Mono" pitchFamily="34" charset="-122"/>
                <a:cs typeface="PT Mono" pitchFamily="34" charset="-120"/>
              </a:rPr>
              <a:t>TRACTION &amp; ROADMAP</a:t>
            </a:r>
            <a:endParaRPr lang="en-US" sz="1300" dirty="0"/>
          </a:p>
        </p:txBody>
      </p:sp>
      <p:sp>
        <p:nvSpPr>
          <p:cNvPr id="3" name="Text 1"/>
          <p:cNvSpPr/>
          <p:nvPr/>
        </p:nvSpPr>
        <p:spPr>
          <a:xfrm>
            <a:off x="621792" y="896112"/>
            <a:ext cx="10972800" cy="640080"/>
          </a:xfrm>
          <a:prstGeom prst="rect">
            <a:avLst/>
          </a:prstGeom>
          <a:noFill/>
          <a:ln/>
        </p:spPr>
        <p:txBody>
          <a:bodyPr wrap="square" lIns="0" tIns="0" rIns="0" bIns="0" rtlCol="0" anchor="ctr"/>
          <a:lstStyle/>
          <a:p>
            <a:pPr indent="0" marL="0">
              <a:buNone/>
            </a:pPr>
            <a:r>
              <a:rPr lang="en-US" sz="3000" b="1" dirty="0">
                <a:solidFill>
                  <a:srgbClr val="1A1A1A"/>
                </a:solidFill>
                <a:latin typeface="Helvetica Neue" pitchFamily="34" charset="0"/>
                <a:ea typeface="Helvetica Neue" pitchFamily="34" charset="-122"/>
                <a:cs typeface="Helvetica Neue" pitchFamily="34" charset="-120"/>
              </a:rPr>
              <a:t>From running testnet </a:t>
            </a:r>
            <a:pPr indent="0" marL="0">
              <a:buNone/>
            </a:pPr>
            <a:r>
              <a:rPr lang="en-US" sz="3000" b="1" dirty="0">
                <a:solidFill>
                  <a:srgbClr val="8A8A8A"/>
                </a:solidFill>
                <a:latin typeface="Helvetica Neue" pitchFamily="34" charset="0"/>
                <a:ea typeface="Helvetica Neue" pitchFamily="34" charset="-122"/>
                <a:cs typeface="Helvetica Neue" pitchFamily="34" charset="-120"/>
              </a:rPr>
              <a:t>to first pilots.</a:t>
            </a:r>
            <a:endParaRPr lang="en-US" sz="3000" dirty="0"/>
          </a:p>
        </p:txBody>
      </p:sp>
      <p:sp>
        <p:nvSpPr>
          <p:cNvPr id="4" name="Shape 2"/>
          <p:cNvSpPr/>
          <p:nvPr/>
        </p:nvSpPr>
        <p:spPr>
          <a:xfrm>
            <a:off x="777240" y="2468880"/>
            <a:ext cx="10607040" cy="0"/>
          </a:xfrm>
          <a:prstGeom prst="line">
            <a:avLst/>
          </a:prstGeom>
          <a:noFill/>
          <a:ln w="15875">
            <a:solidFill>
              <a:srgbClr val="D9D2CC"/>
            </a:solidFill>
            <a:prstDash val="solid"/>
          </a:ln>
        </p:spPr>
      </p:sp>
      <p:sp>
        <p:nvSpPr>
          <p:cNvPr id="5" name="Shape 3"/>
          <p:cNvSpPr/>
          <p:nvPr/>
        </p:nvSpPr>
        <p:spPr>
          <a:xfrm>
            <a:off x="685800" y="2395728"/>
            <a:ext cx="146304" cy="146304"/>
          </a:xfrm>
          <a:prstGeom prst="rect">
            <a:avLst/>
          </a:prstGeom>
          <a:solidFill>
            <a:srgbClr val="E8492B"/>
          </a:solidFill>
          <a:ln/>
        </p:spPr>
      </p:sp>
      <p:sp>
        <p:nvSpPr>
          <p:cNvPr id="6" name="Text 4"/>
          <p:cNvSpPr/>
          <p:nvPr/>
        </p:nvSpPr>
        <p:spPr>
          <a:xfrm>
            <a:off x="932688" y="2286000"/>
            <a:ext cx="3291840" cy="320040"/>
          </a:xfrm>
          <a:prstGeom prst="rect">
            <a:avLst/>
          </a:prstGeom>
          <a:noFill/>
          <a:ln/>
        </p:spPr>
        <p:txBody>
          <a:bodyPr wrap="square" lIns="0" tIns="0" rIns="0" bIns="0" rtlCol="0" anchor="ctr"/>
          <a:lstStyle/>
          <a:p>
            <a:pPr indent="0" marL="0">
              <a:buNone/>
            </a:pPr>
            <a:r>
              <a:rPr lang="en-US" sz="1200" b="1" spc="100" kern="0" dirty="0">
                <a:solidFill>
                  <a:srgbClr val="E8492B"/>
                </a:solidFill>
                <a:latin typeface="PT Mono" pitchFamily="34" charset="0"/>
                <a:ea typeface="PT Mono" pitchFamily="34" charset="-122"/>
                <a:cs typeface="PT Mono" pitchFamily="34" charset="-120"/>
              </a:rPr>
              <a:t>NOW · Q2 2026</a:t>
            </a:r>
            <a:endParaRPr lang="en-US" sz="1200" dirty="0"/>
          </a:p>
        </p:txBody>
      </p:sp>
      <p:sp>
        <p:nvSpPr>
          <p:cNvPr id="7" name="Text 5"/>
          <p:cNvSpPr/>
          <p:nvPr/>
        </p:nvSpPr>
        <p:spPr>
          <a:xfrm>
            <a:off x="640080" y="2743200"/>
            <a:ext cx="3383280" cy="502920"/>
          </a:xfrm>
          <a:prstGeom prst="rect">
            <a:avLst/>
          </a:prstGeom>
          <a:noFill/>
          <a:ln/>
        </p:spPr>
        <p:txBody>
          <a:bodyPr wrap="square" lIns="0" tIns="0" rIns="0" bIns="0" rtlCol="0" anchor="ctr"/>
          <a:lstStyle/>
          <a:p>
            <a:pPr indent="0" marL="0">
              <a:buNone/>
            </a:pPr>
            <a:r>
              <a:rPr lang="en-US" sz="2300" b="1" dirty="0">
                <a:solidFill>
                  <a:srgbClr val="1A1A1A"/>
                </a:solidFill>
                <a:latin typeface="Helvetica Neue" pitchFamily="34" charset="0"/>
                <a:ea typeface="Helvetica Neue" pitchFamily="34" charset="-122"/>
                <a:cs typeface="Helvetica Neue" pitchFamily="34" charset="-120"/>
              </a:rPr>
              <a:t>Live</a:t>
            </a:r>
            <a:endParaRPr lang="en-US" sz="2300" dirty="0"/>
          </a:p>
        </p:txBody>
      </p:sp>
      <p:sp>
        <p:nvSpPr>
          <p:cNvPr id="8" name="Text 6"/>
          <p:cNvSpPr/>
          <p:nvPr/>
        </p:nvSpPr>
        <p:spPr>
          <a:xfrm>
            <a:off x="640080" y="3429000"/>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9" name="Text 7"/>
          <p:cNvSpPr/>
          <p:nvPr/>
        </p:nvSpPr>
        <p:spPr>
          <a:xfrm>
            <a:off x="987552" y="3392424"/>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Full stack live &amp; source-verified on Arc testnet</a:t>
            </a:r>
            <a:endParaRPr lang="en-US" sz="1300" dirty="0"/>
          </a:p>
        </p:txBody>
      </p:sp>
      <p:sp>
        <p:nvSpPr>
          <p:cNvPr id="10" name="Text 8"/>
          <p:cNvSpPr/>
          <p:nvPr/>
        </p:nvSpPr>
        <p:spPr>
          <a:xfrm>
            <a:off x="640080" y="4087368"/>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11" name="Text 9"/>
          <p:cNvSpPr/>
          <p:nvPr/>
        </p:nvSpPr>
        <p:spPr>
          <a:xfrm>
            <a:off x="987552" y="4050792"/>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End-to-end demo: attest → pay → cash out</a:t>
            </a:r>
            <a:endParaRPr lang="en-US" sz="1300" dirty="0"/>
          </a:p>
        </p:txBody>
      </p:sp>
      <p:sp>
        <p:nvSpPr>
          <p:cNvPr id="12" name="Text 10"/>
          <p:cNvSpPr/>
          <p:nvPr/>
        </p:nvSpPr>
        <p:spPr>
          <a:xfrm>
            <a:off x="640080" y="4745736"/>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13" name="Text 11"/>
          <p:cNvSpPr/>
          <p:nvPr/>
        </p:nvSpPr>
        <p:spPr>
          <a:xfrm>
            <a:off x="987552" y="4709160"/>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Public showcase deployed</a:t>
            </a:r>
            <a:endParaRPr lang="en-US" sz="1300" dirty="0"/>
          </a:p>
        </p:txBody>
      </p:sp>
      <p:sp>
        <p:nvSpPr>
          <p:cNvPr id="14" name="Shape 12"/>
          <p:cNvSpPr/>
          <p:nvPr/>
        </p:nvSpPr>
        <p:spPr>
          <a:xfrm>
            <a:off x="4416552" y="2395728"/>
            <a:ext cx="146304" cy="146304"/>
          </a:xfrm>
          <a:prstGeom prst="rect">
            <a:avLst/>
          </a:prstGeom>
          <a:solidFill>
            <a:srgbClr val="E8492B"/>
          </a:solidFill>
          <a:ln/>
        </p:spPr>
      </p:sp>
      <p:sp>
        <p:nvSpPr>
          <p:cNvPr id="15" name="Text 13"/>
          <p:cNvSpPr/>
          <p:nvPr/>
        </p:nvSpPr>
        <p:spPr>
          <a:xfrm>
            <a:off x="4663440" y="2286000"/>
            <a:ext cx="3291840" cy="320040"/>
          </a:xfrm>
          <a:prstGeom prst="rect">
            <a:avLst/>
          </a:prstGeom>
          <a:noFill/>
          <a:ln/>
        </p:spPr>
        <p:txBody>
          <a:bodyPr wrap="square" lIns="0" tIns="0" rIns="0" bIns="0" rtlCol="0" anchor="ctr"/>
          <a:lstStyle/>
          <a:p>
            <a:pPr indent="0" marL="0">
              <a:buNone/>
            </a:pPr>
            <a:r>
              <a:rPr lang="en-US" sz="1200" b="1" spc="100" kern="0" dirty="0">
                <a:solidFill>
                  <a:srgbClr val="E8492B"/>
                </a:solidFill>
                <a:latin typeface="PT Mono" pitchFamily="34" charset="0"/>
                <a:ea typeface="PT Mono" pitchFamily="34" charset="-122"/>
                <a:cs typeface="PT Mono" pitchFamily="34" charset="-120"/>
              </a:rPr>
              <a:t>NEXT · GRANT</a:t>
            </a:r>
            <a:endParaRPr lang="en-US" sz="1200" dirty="0"/>
          </a:p>
        </p:txBody>
      </p:sp>
      <p:sp>
        <p:nvSpPr>
          <p:cNvPr id="16" name="Text 14"/>
          <p:cNvSpPr/>
          <p:nvPr/>
        </p:nvSpPr>
        <p:spPr>
          <a:xfrm>
            <a:off x="4370832" y="2743200"/>
            <a:ext cx="3383280" cy="502920"/>
          </a:xfrm>
          <a:prstGeom prst="rect">
            <a:avLst/>
          </a:prstGeom>
          <a:noFill/>
          <a:ln/>
        </p:spPr>
        <p:txBody>
          <a:bodyPr wrap="square" lIns="0" tIns="0" rIns="0" bIns="0" rtlCol="0" anchor="ctr"/>
          <a:lstStyle/>
          <a:p>
            <a:pPr indent="0" marL="0">
              <a:buNone/>
            </a:pPr>
            <a:r>
              <a:rPr lang="en-US" sz="2300" b="1" dirty="0">
                <a:solidFill>
                  <a:srgbClr val="1A1A1A"/>
                </a:solidFill>
                <a:latin typeface="Helvetica Neue" pitchFamily="34" charset="0"/>
                <a:ea typeface="Helvetica Neue" pitchFamily="34" charset="-122"/>
                <a:cs typeface="Helvetica Neue" pitchFamily="34" charset="-120"/>
              </a:rPr>
              <a:t>Hardening</a:t>
            </a:r>
            <a:endParaRPr lang="en-US" sz="2300" dirty="0"/>
          </a:p>
        </p:txBody>
      </p:sp>
      <p:sp>
        <p:nvSpPr>
          <p:cNvPr id="17" name="Text 15"/>
          <p:cNvSpPr/>
          <p:nvPr/>
        </p:nvSpPr>
        <p:spPr>
          <a:xfrm>
            <a:off x="4370832" y="3429000"/>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18" name="Text 16"/>
          <p:cNvSpPr/>
          <p:nvPr/>
        </p:nvSpPr>
        <p:spPr>
          <a:xfrm>
            <a:off x="4718304" y="3392424"/>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Independent security audit</a:t>
            </a:r>
            <a:endParaRPr lang="en-US" sz="1300" dirty="0"/>
          </a:p>
        </p:txBody>
      </p:sp>
      <p:sp>
        <p:nvSpPr>
          <p:cNvPr id="19" name="Text 17"/>
          <p:cNvSpPr/>
          <p:nvPr/>
        </p:nvSpPr>
        <p:spPr>
          <a:xfrm>
            <a:off x="4370832" y="4087368"/>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20" name="Text 18"/>
          <p:cNvSpPr/>
          <p:nvPr/>
        </p:nvSpPr>
        <p:spPr>
          <a:xfrm>
            <a:off x="4718304" y="4050792"/>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ProofOfView rewrite to final spec</a:t>
            </a:r>
            <a:endParaRPr lang="en-US" sz="1300" dirty="0"/>
          </a:p>
        </p:txBody>
      </p:sp>
      <p:sp>
        <p:nvSpPr>
          <p:cNvPr id="21" name="Text 19"/>
          <p:cNvSpPr/>
          <p:nvPr/>
        </p:nvSpPr>
        <p:spPr>
          <a:xfrm>
            <a:off x="4370832" y="4745736"/>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22" name="Text 20"/>
          <p:cNvSpPr/>
          <p:nvPr/>
        </p:nvSpPr>
        <p:spPr>
          <a:xfrm>
            <a:off x="4718304" y="4709160"/>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Mainnet readiness on Arc</a:t>
            </a:r>
            <a:endParaRPr lang="en-US" sz="1300" dirty="0"/>
          </a:p>
        </p:txBody>
      </p:sp>
      <p:sp>
        <p:nvSpPr>
          <p:cNvPr id="23" name="Shape 21"/>
          <p:cNvSpPr/>
          <p:nvPr/>
        </p:nvSpPr>
        <p:spPr>
          <a:xfrm>
            <a:off x="8147304" y="2395728"/>
            <a:ext cx="146304" cy="146304"/>
          </a:xfrm>
          <a:prstGeom prst="rect">
            <a:avLst/>
          </a:prstGeom>
          <a:solidFill>
            <a:srgbClr val="E8492B"/>
          </a:solidFill>
          <a:ln/>
        </p:spPr>
      </p:sp>
      <p:sp>
        <p:nvSpPr>
          <p:cNvPr id="24" name="Text 22"/>
          <p:cNvSpPr/>
          <p:nvPr/>
        </p:nvSpPr>
        <p:spPr>
          <a:xfrm>
            <a:off x="8394192" y="2286000"/>
            <a:ext cx="3291840" cy="320040"/>
          </a:xfrm>
          <a:prstGeom prst="rect">
            <a:avLst/>
          </a:prstGeom>
          <a:noFill/>
          <a:ln/>
        </p:spPr>
        <p:txBody>
          <a:bodyPr wrap="square" lIns="0" tIns="0" rIns="0" bIns="0" rtlCol="0" anchor="ctr"/>
          <a:lstStyle/>
          <a:p>
            <a:pPr indent="0" marL="0">
              <a:buNone/>
            </a:pPr>
            <a:r>
              <a:rPr lang="en-US" sz="1200" b="1" spc="100" kern="0" dirty="0">
                <a:solidFill>
                  <a:srgbClr val="E8492B"/>
                </a:solidFill>
                <a:latin typeface="PT Mono" pitchFamily="34" charset="0"/>
                <a:ea typeface="PT Mono" pitchFamily="34" charset="-122"/>
                <a:cs typeface="PT Mono" pitchFamily="34" charset="-120"/>
              </a:rPr>
              <a:t>THEN · POST-RAISE</a:t>
            </a:r>
            <a:endParaRPr lang="en-US" sz="1200" dirty="0"/>
          </a:p>
        </p:txBody>
      </p:sp>
      <p:sp>
        <p:nvSpPr>
          <p:cNvPr id="25" name="Text 23"/>
          <p:cNvSpPr/>
          <p:nvPr/>
        </p:nvSpPr>
        <p:spPr>
          <a:xfrm>
            <a:off x="8101584" y="2743200"/>
            <a:ext cx="3383280" cy="502920"/>
          </a:xfrm>
          <a:prstGeom prst="rect">
            <a:avLst/>
          </a:prstGeom>
          <a:noFill/>
          <a:ln/>
        </p:spPr>
        <p:txBody>
          <a:bodyPr wrap="square" lIns="0" tIns="0" rIns="0" bIns="0" rtlCol="0" anchor="ctr"/>
          <a:lstStyle/>
          <a:p>
            <a:pPr indent="0" marL="0">
              <a:buNone/>
            </a:pPr>
            <a:r>
              <a:rPr lang="en-US" sz="2300" b="1" dirty="0">
                <a:solidFill>
                  <a:srgbClr val="1A1A1A"/>
                </a:solidFill>
                <a:latin typeface="Helvetica Neue" pitchFamily="34" charset="0"/>
                <a:ea typeface="Helvetica Neue" pitchFamily="34" charset="-122"/>
                <a:cs typeface="Helvetica Neue" pitchFamily="34" charset="-120"/>
              </a:rPr>
              <a:t>Go-to-market</a:t>
            </a:r>
            <a:endParaRPr lang="en-US" sz="2300" dirty="0"/>
          </a:p>
        </p:txBody>
      </p:sp>
      <p:sp>
        <p:nvSpPr>
          <p:cNvPr id="26" name="Text 24"/>
          <p:cNvSpPr/>
          <p:nvPr/>
        </p:nvSpPr>
        <p:spPr>
          <a:xfrm>
            <a:off x="8101584" y="3429000"/>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27" name="Text 25"/>
          <p:cNvSpPr/>
          <p:nvPr/>
        </p:nvSpPr>
        <p:spPr>
          <a:xfrm>
            <a:off x="8449056" y="3392424"/>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SDK general availability</a:t>
            </a:r>
            <a:endParaRPr lang="en-US" sz="1300" dirty="0"/>
          </a:p>
        </p:txBody>
      </p:sp>
      <p:sp>
        <p:nvSpPr>
          <p:cNvPr id="28" name="Text 26"/>
          <p:cNvSpPr/>
          <p:nvPr/>
        </p:nvSpPr>
        <p:spPr>
          <a:xfrm>
            <a:off x="8101584" y="4087368"/>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29" name="Text 27"/>
          <p:cNvSpPr/>
          <p:nvPr/>
        </p:nvSpPr>
        <p:spPr>
          <a:xfrm>
            <a:off x="8449056" y="4050792"/>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First paying campaigns</a:t>
            </a:r>
            <a:endParaRPr lang="en-US" sz="1300" dirty="0"/>
          </a:p>
        </p:txBody>
      </p:sp>
      <p:sp>
        <p:nvSpPr>
          <p:cNvPr id="30" name="Text 28"/>
          <p:cNvSpPr/>
          <p:nvPr/>
        </p:nvSpPr>
        <p:spPr>
          <a:xfrm>
            <a:off x="8101584" y="4745736"/>
            <a:ext cx="320040" cy="365760"/>
          </a:xfrm>
          <a:prstGeom prst="rect">
            <a:avLst/>
          </a:prstGeom>
          <a:noFill/>
          <a:ln/>
        </p:spPr>
        <p:txBody>
          <a:bodyPr wrap="square" lIns="0" tIns="0" rIns="0" bIns="0" rtlCol="0" anchor="ctr"/>
          <a:lstStyle/>
          <a:p>
            <a:pPr indent="0" marL="0">
              <a:buNone/>
            </a:pPr>
            <a:r>
              <a:rPr lang="en-US" sz="1300" dirty="0">
                <a:solidFill>
                  <a:srgbClr val="E8492B"/>
                </a:solidFill>
                <a:latin typeface="PT Mono" pitchFamily="34" charset="0"/>
                <a:ea typeface="PT Mono" pitchFamily="34" charset="-122"/>
                <a:cs typeface="PT Mono" pitchFamily="34" charset="-120"/>
              </a:rPr>
              <a:t>—</a:t>
            </a:r>
            <a:endParaRPr lang="en-US" sz="1300" dirty="0"/>
          </a:p>
        </p:txBody>
      </p:sp>
      <p:sp>
        <p:nvSpPr>
          <p:cNvPr id="31" name="Text 29"/>
          <p:cNvSpPr/>
          <p:nvPr/>
        </p:nvSpPr>
        <p:spPr>
          <a:xfrm>
            <a:off x="8449056" y="4709160"/>
            <a:ext cx="3063240" cy="640080"/>
          </a:xfrm>
          <a:prstGeom prst="rect">
            <a:avLst/>
          </a:prstGeom>
          <a:noFill/>
          <a:ln/>
        </p:spPr>
        <p:txBody>
          <a:bodyPr wrap="square" lIns="0" tIns="0" rIns="0" bIns="0" rtlCol="0" anchor="ctr"/>
          <a:lstStyle/>
          <a:p>
            <a:pPr indent="0" marL="0">
              <a:lnSpc>
                <a:spcPct val="122000"/>
              </a:lnSpc>
              <a:buNone/>
            </a:pPr>
            <a:r>
              <a:rPr lang="en-US" sz="1300" dirty="0">
                <a:solidFill>
                  <a:srgbClr val="55504C"/>
                </a:solidFill>
                <a:latin typeface="Helvetica Neue" pitchFamily="34" charset="0"/>
                <a:ea typeface="Helvetica Neue" pitchFamily="34" charset="-122"/>
                <a:cs typeface="Helvetica Neue" pitchFamily="34" charset="-120"/>
              </a:rPr>
              <a:t>Agentic-advertiser pilots</a:t>
            </a:r>
            <a:endParaRPr lang="en-US" sz="1300" dirty="0"/>
          </a:p>
        </p:txBody>
      </p:sp>
      <p:sp>
        <p:nvSpPr>
          <p:cNvPr id="32" name="Text 30"/>
          <p:cNvSpPr/>
          <p:nvPr/>
        </p:nvSpPr>
        <p:spPr>
          <a:xfrm>
            <a:off x="640080" y="6126480"/>
            <a:ext cx="10972800" cy="365760"/>
          </a:xfrm>
          <a:prstGeom prst="rect">
            <a:avLst/>
          </a:prstGeom>
          <a:noFill/>
          <a:ln/>
        </p:spPr>
        <p:txBody>
          <a:bodyPr wrap="square" lIns="0" tIns="0" rIns="0" bIns="0" rtlCol="0" anchor="ctr"/>
          <a:lstStyle/>
          <a:p>
            <a:pPr indent="0" marL="0">
              <a:buNone/>
            </a:pPr>
            <a:r>
              <a:rPr lang="en-US" sz="1300" i="1" dirty="0">
                <a:solidFill>
                  <a:srgbClr val="8A8A8A"/>
                </a:solidFill>
                <a:latin typeface="Helvetica Neue" pitchFamily="34" charset="0"/>
                <a:ea typeface="Helvetica Neue" pitchFamily="34" charset="-122"/>
                <a:cs typeface="Helvetica Neue" pitchFamily="34" charset="-120"/>
              </a:rPr>
              <a:t>The audit is the single gate to mainnet and real money — exactly what the grant funds.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601200" y="-457200"/>
            <a:ext cx="3200400" cy="2971800"/>
          </a:xfrm>
          <a:prstGeom prst="rect">
            <a:avLst/>
          </a:prstGeom>
        </p:spPr>
      </p:pic>
      <p:sp>
        <p:nvSpPr>
          <p:cNvPr id="3" name="Text 0"/>
          <p:cNvSpPr/>
          <p:nvPr/>
        </p:nvSpPr>
        <p:spPr>
          <a:xfrm>
            <a:off x="640080" y="548640"/>
            <a:ext cx="10058400" cy="274320"/>
          </a:xfrm>
          <a:prstGeom prst="rect">
            <a:avLst/>
          </a:prstGeom>
          <a:noFill/>
          <a:ln/>
        </p:spPr>
        <p:txBody>
          <a:bodyPr wrap="square" lIns="0" tIns="0" rIns="0" bIns="0" rtlCol="0" anchor="ctr"/>
          <a:lstStyle/>
          <a:p>
            <a:pPr indent="0" marL="0">
              <a:buNone/>
            </a:pPr>
            <a:r>
              <a:rPr lang="en-US" sz="1300" spc="300" kern="0" dirty="0">
                <a:solidFill>
                  <a:srgbClr val="1A1A1A"/>
                </a:solidFill>
                <a:latin typeface="PT Mono" pitchFamily="34" charset="0"/>
                <a:ea typeface="PT Mono" pitchFamily="34" charset="-122"/>
                <a:cs typeface="PT Mono" pitchFamily="34" charset="-120"/>
              </a:rPr>
              <a:t>FUNDRAISING</a:t>
            </a:r>
            <a:endParaRPr lang="en-US" sz="1300" dirty="0"/>
          </a:p>
        </p:txBody>
      </p:sp>
      <p:sp>
        <p:nvSpPr>
          <p:cNvPr id="4" name="Text 1"/>
          <p:cNvSpPr/>
          <p:nvPr/>
        </p:nvSpPr>
        <p:spPr>
          <a:xfrm>
            <a:off x="621792" y="960120"/>
            <a:ext cx="8229600" cy="1188720"/>
          </a:xfrm>
          <a:prstGeom prst="rect">
            <a:avLst/>
          </a:prstGeom>
          <a:noFill/>
          <a:ln/>
        </p:spPr>
        <p:txBody>
          <a:bodyPr wrap="square" lIns="0" tIns="0" rIns="0" bIns="0" rtlCol="0" anchor="ctr"/>
          <a:lstStyle/>
          <a:p>
            <a:pPr indent="0" marL="0">
              <a:lnSpc>
                <a:spcPct val="104000"/>
              </a:lnSpc>
              <a:buNone/>
            </a:pPr>
            <a:r>
              <a:rPr lang="en-US" sz="3800" b="1" dirty="0">
                <a:solidFill>
                  <a:srgbClr val="8A8A8A"/>
                </a:solidFill>
                <a:latin typeface="Helvetica Neue" pitchFamily="34" charset="0"/>
                <a:ea typeface="Helvetica Neue" pitchFamily="34" charset="-122"/>
                <a:cs typeface="Helvetica Neue" pitchFamily="34" charset="-120"/>
              </a:rPr>
              <a:t>We're raising a </a:t>
            </a:r>
            <a:pPr indent="0" marL="0">
              <a:lnSpc>
                <a:spcPct val="104000"/>
              </a:lnSpc>
              <a:buNone/>
            </a:pPr>
            <a:r>
              <a:rPr lang="en-US" sz="3800" b="1" dirty="0">
                <a:solidFill>
                  <a:srgbClr val="1A1A1A"/>
                </a:solidFill>
                <a:latin typeface="Helvetica Neue" pitchFamily="34" charset="0"/>
                <a:ea typeface="Helvetica Neue" pitchFamily="34" charset="-122"/>
                <a:cs typeface="Helvetica Neue" pitchFamily="34" charset="-120"/>
              </a:rPr>
              <a:t>pre-seed round </a:t>
            </a:r>
            <a:pPr indent="0" marL="0">
              <a:lnSpc>
                <a:spcPct val="104000"/>
              </a:lnSpc>
              <a:buNone/>
            </a:pPr>
            <a:r>
              <a:rPr lang="en-US" sz="3800" b="1" dirty="0">
                <a:solidFill>
                  <a:srgbClr val="8A8A8A"/>
                </a:solidFill>
                <a:latin typeface="Helvetica Neue" pitchFamily="34" charset="0"/>
                <a:ea typeface="Helvetica Neue" pitchFamily="34" charset="-122"/>
                <a:cs typeface="Helvetica Neue" pitchFamily="34" charset="-120"/>
              </a:rPr>
              <a:t>to reach mainnet</a:t>
            </a:r>
            <a:endParaRPr lang="en-US" sz="3800" dirty="0"/>
          </a:p>
        </p:txBody>
      </p:sp>
      <p:sp>
        <p:nvSpPr>
          <p:cNvPr id="5" name="Text 2"/>
          <p:cNvSpPr/>
          <p:nvPr/>
        </p:nvSpPr>
        <p:spPr>
          <a:xfrm>
            <a:off x="585216" y="2331720"/>
            <a:ext cx="9144000" cy="1188720"/>
          </a:xfrm>
          <a:prstGeom prst="rect">
            <a:avLst/>
          </a:prstGeom>
          <a:noFill/>
          <a:ln/>
        </p:spPr>
        <p:txBody>
          <a:bodyPr wrap="square" lIns="0" tIns="0" rIns="0" bIns="0" rtlCol="0" anchor="ctr"/>
          <a:lstStyle/>
          <a:p>
            <a:pPr indent="0" marL="0">
              <a:buNone/>
            </a:pPr>
            <a:r>
              <a:rPr lang="en-US" sz="8400" b="1" dirty="0">
                <a:solidFill>
                  <a:srgbClr val="E8492B"/>
                </a:solidFill>
                <a:latin typeface="PT Mono" pitchFamily="34" charset="0"/>
                <a:ea typeface="PT Mono" pitchFamily="34" charset="-122"/>
                <a:cs typeface="PT Mono" pitchFamily="34" charset="-120"/>
              </a:rPr>
              <a:t>$500,000</a:t>
            </a:r>
            <a:endParaRPr lang="en-US" sz="8400" dirty="0"/>
          </a:p>
        </p:txBody>
      </p:sp>
      <p:sp>
        <p:nvSpPr>
          <p:cNvPr id="6" name="Text 3"/>
          <p:cNvSpPr/>
          <p:nvPr/>
        </p:nvSpPr>
        <p:spPr>
          <a:xfrm>
            <a:off x="640080" y="3703320"/>
            <a:ext cx="8229600" cy="457200"/>
          </a:xfrm>
          <a:prstGeom prst="rect">
            <a:avLst/>
          </a:prstGeom>
          <a:noFill/>
          <a:ln/>
        </p:spPr>
        <p:txBody>
          <a:bodyPr wrap="square" lIns="0" tIns="0" rIns="0" bIns="0" rtlCol="0" anchor="ctr"/>
          <a:lstStyle/>
          <a:p>
            <a:pPr indent="0" marL="0">
              <a:lnSpc>
                <a:spcPct val="130000"/>
              </a:lnSpc>
              <a:buNone/>
            </a:pPr>
            <a:r>
              <a:rPr lang="en-US" sz="1400" dirty="0">
                <a:solidFill>
                  <a:srgbClr val="55504C"/>
                </a:solidFill>
                <a:latin typeface="Helvetica Neue" pitchFamily="34" charset="0"/>
                <a:ea typeface="Helvetica Neue" pitchFamily="34" charset="-122"/>
                <a:cs typeface="Helvetica Neue" pitchFamily="34" charset="-120"/>
              </a:rPr>
              <a:t>On a SAFE, alongside the Arc Builders Fund grant. The funds are allocated to the following core objectives.</a:t>
            </a:r>
            <a:endParaRPr lang="en-US" sz="1400" dirty="0"/>
          </a:p>
        </p:txBody>
      </p:sp>
      <p:sp>
        <p:nvSpPr>
          <p:cNvPr id="7" name="Shape 4"/>
          <p:cNvSpPr/>
          <p:nvPr/>
        </p:nvSpPr>
        <p:spPr>
          <a:xfrm>
            <a:off x="640080" y="4343400"/>
            <a:ext cx="3520440" cy="1097280"/>
          </a:xfrm>
          <a:prstGeom prst="rect">
            <a:avLst/>
          </a:prstGeom>
          <a:solidFill>
            <a:srgbClr val="FFFFFF"/>
          </a:solidFill>
          <a:ln w="12700">
            <a:solidFill>
              <a:srgbClr val="D9D2CC"/>
            </a:solidFill>
            <a:prstDash val="solid"/>
          </a:ln>
        </p:spPr>
      </p:sp>
      <p:sp>
        <p:nvSpPr>
          <p:cNvPr id="8" name="Text 5"/>
          <p:cNvSpPr/>
          <p:nvPr/>
        </p:nvSpPr>
        <p:spPr>
          <a:xfrm>
            <a:off x="859536" y="4507992"/>
            <a:ext cx="3108960" cy="292608"/>
          </a:xfrm>
          <a:prstGeom prst="rect">
            <a:avLst/>
          </a:prstGeom>
          <a:noFill/>
          <a:ln/>
        </p:spPr>
        <p:txBody>
          <a:bodyPr wrap="square" lIns="0" tIns="0" rIns="0" bIns="0" rtlCol="0" anchor="ctr"/>
          <a:lstStyle/>
          <a:p>
            <a:pPr indent="0" marL="0">
              <a:buNone/>
            </a:pPr>
            <a:r>
              <a:rPr lang="en-US" sz="1200" b="1" spc="50" kern="0" dirty="0">
                <a:solidFill>
                  <a:srgbClr val="1A1A1A"/>
                </a:solidFill>
                <a:latin typeface="PT Mono" pitchFamily="34" charset="0"/>
                <a:ea typeface="PT Mono" pitchFamily="34" charset="-122"/>
                <a:cs typeface="PT Mono" pitchFamily="34" charset="-120"/>
              </a:rPr>
              <a:t>SECURITY AUDIT</a:t>
            </a:r>
            <a:endParaRPr lang="en-US" sz="1200" dirty="0"/>
          </a:p>
        </p:txBody>
      </p:sp>
      <p:sp>
        <p:nvSpPr>
          <p:cNvPr id="9" name="Text 6"/>
          <p:cNvSpPr/>
          <p:nvPr/>
        </p:nvSpPr>
        <p:spPr>
          <a:xfrm>
            <a:off x="859536" y="4800600"/>
            <a:ext cx="3108960" cy="411480"/>
          </a:xfrm>
          <a:prstGeom prst="rect">
            <a:avLst/>
          </a:prstGeom>
          <a:noFill/>
          <a:ln/>
        </p:spPr>
        <p:txBody>
          <a:bodyPr wrap="square" lIns="0" tIns="0" rIns="0" bIns="0" rtlCol="0" anchor="ctr"/>
          <a:lstStyle/>
          <a:p>
            <a:pPr indent="0" marL="0">
              <a:lnSpc>
                <a:spcPct val="120000"/>
              </a:lnSpc>
              <a:buNone/>
            </a:pPr>
            <a:r>
              <a:rPr lang="en-US" sz="1150" dirty="0">
                <a:solidFill>
                  <a:srgbClr val="55504C"/>
                </a:solidFill>
                <a:latin typeface="Helvetica Neue" pitchFamily="34" charset="0"/>
                <a:ea typeface="Helvetica Neue" pitchFamily="34" charset="-122"/>
                <a:cs typeface="Helvetica Neue" pitchFamily="34" charset="-120"/>
              </a:rPr>
              <a:t>Independent contract + ZK circuit review</a:t>
            </a:r>
            <a:endParaRPr lang="en-US" sz="1150" dirty="0"/>
          </a:p>
        </p:txBody>
      </p:sp>
      <p:sp>
        <p:nvSpPr>
          <p:cNvPr id="10" name="Text 7"/>
          <p:cNvSpPr/>
          <p:nvPr/>
        </p:nvSpPr>
        <p:spPr>
          <a:xfrm>
            <a:off x="859536" y="5129784"/>
            <a:ext cx="3108960" cy="292608"/>
          </a:xfrm>
          <a:prstGeom prst="rect">
            <a:avLst/>
          </a:prstGeom>
          <a:noFill/>
          <a:ln/>
        </p:spPr>
        <p:txBody>
          <a:bodyPr wrap="square" lIns="0" tIns="0" rIns="0" bIns="0" rtlCol="0" anchor="ctr"/>
          <a:lstStyle/>
          <a:p>
            <a:pPr indent="0" marL="0">
              <a:buNone/>
            </a:pPr>
            <a:r>
              <a:rPr lang="en-US" sz="1700" b="1" dirty="0">
                <a:solidFill>
                  <a:srgbClr val="E8492B"/>
                </a:solidFill>
                <a:latin typeface="PT Mono" pitchFamily="34" charset="0"/>
                <a:ea typeface="PT Mono" pitchFamily="34" charset="-122"/>
                <a:cs typeface="PT Mono" pitchFamily="34" charset="-120"/>
              </a:rPr>
              <a:t>$200,000</a:t>
            </a:r>
            <a:endParaRPr lang="en-US" sz="1700" dirty="0"/>
          </a:p>
        </p:txBody>
      </p:sp>
      <p:sp>
        <p:nvSpPr>
          <p:cNvPr id="11" name="Shape 8"/>
          <p:cNvSpPr/>
          <p:nvPr/>
        </p:nvSpPr>
        <p:spPr>
          <a:xfrm>
            <a:off x="4325112" y="4343400"/>
            <a:ext cx="3520440" cy="1097280"/>
          </a:xfrm>
          <a:prstGeom prst="rect">
            <a:avLst/>
          </a:prstGeom>
          <a:solidFill>
            <a:srgbClr val="FFFFFF"/>
          </a:solidFill>
          <a:ln w="12700">
            <a:solidFill>
              <a:srgbClr val="D9D2CC"/>
            </a:solidFill>
            <a:prstDash val="solid"/>
          </a:ln>
        </p:spPr>
      </p:sp>
      <p:sp>
        <p:nvSpPr>
          <p:cNvPr id="12" name="Text 9"/>
          <p:cNvSpPr/>
          <p:nvPr/>
        </p:nvSpPr>
        <p:spPr>
          <a:xfrm>
            <a:off x="4544568" y="4507992"/>
            <a:ext cx="3108960" cy="292608"/>
          </a:xfrm>
          <a:prstGeom prst="rect">
            <a:avLst/>
          </a:prstGeom>
          <a:noFill/>
          <a:ln/>
        </p:spPr>
        <p:txBody>
          <a:bodyPr wrap="square" lIns="0" tIns="0" rIns="0" bIns="0" rtlCol="0" anchor="ctr"/>
          <a:lstStyle/>
          <a:p>
            <a:pPr indent="0" marL="0">
              <a:buNone/>
            </a:pPr>
            <a:r>
              <a:rPr lang="en-US" sz="1200" b="1" spc="50" kern="0" dirty="0">
                <a:solidFill>
                  <a:srgbClr val="1A1A1A"/>
                </a:solidFill>
                <a:latin typeface="PT Mono" pitchFamily="34" charset="0"/>
                <a:ea typeface="PT Mono" pitchFamily="34" charset="-122"/>
                <a:cs typeface="PT Mono" pitchFamily="34" charset="-120"/>
              </a:rPr>
              <a:t>FOUNDER RUNWAY</a:t>
            </a:r>
            <a:endParaRPr lang="en-US" sz="1200" dirty="0"/>
          </a:p>
        </p:txBody>
      </p:sp>
      <p:sp>
        <p:nvSpPr>
          <p:cNvPr id="13" name="Text 10"/>
          <p:cNvSpPr/>
          <p:nvPr/>
        </p:nvSpPr>
        <p:spPr>
          <a:xfrm>
            <a:off x="4544568" y="4800600"/>
            <a:ext cx="3108960" cy="411480"/>
          </a:xfrm>
          <a:prstGeom prst="rect">
            <a:avLst/>
          </a:prstGeom>
          <a:noFill/>
          <a:ln/>
        </p:spPr>
        <p:txBody>
          <a:bodyPr wrap="square" lIns="0" tIns="0" rIns="0" bIns="0" rtlCol="0" anchor="ctr"/>
          <a:lstStyle/>
          <a:p>
            <a:pPr indent="0" marL="0">
              <a:lnSpc>
                <a:spcPct val="120000"/>
              </a:lnSpc>
              <a:buNone/>
            </a:pPr>
            <a:r>
              <a:rPr lang="en-US" sz="1150" dirty="0">
                <a:solidFill>
                  <a:srgbClr val="55504C"/>
                </a:solidFill>
                <a:latin typeface="Helvetica Neue" pitchFamily="34" charset="0"/>
                <a:ea typeface="Helvetica Neue" pitchFamily="34" charset="-122"/>
                <a:cs typeface="Helvetica Neue" pitchFamily="34" charset="-120"/>
              </a:rPr>
              <a:t>Full-time focus through mainnet launch</a:t>
            </a:r>
            <a:endParaRPr lang="en-US" sz="1150" dirty="0"/>
          </a:p>
        </p:txBody>
      </p:sp>
      <p:sp>
        <p:nvSpPr>
          <p:cNvPr id="14" name="Text 11"/>
          <p:cNvSpPr/>
          <p:nvPr/>
        </p:nvSpPr>
        <p:spPr>
          <a:xfrm>
            <a:off x="4544568" y="5129784"/>
            <a:ext cx="3108960" cy="292608"/>
          </a:xfrm>
          <a:prstGeom prst="rect">
            <a:avLst/>
          </a:prstGeom>
          <a:noFill/>
          <a:ln/>
        </p:spPr>
        <p:txBody>
          <a:bodyPr wrap="square" lIns="0" tIns="0" rIns="0" bIns="0" rtlCol="0" anchor="ctr"/>
          <a:lstStyle/>
          <a:p>
            <a:pPr indent="0" marL="0">
              <a:buNone/>
            </a:pPr>
            <a:r>
              <a:rPr lang="en-US" sz="1700" b="1" dirty="0">
                <a:solidFill>
                  <a:srgbClr val="E8492B"/>
                </a:solidFill>
                <a:latin typeface="PT Mono" pitchFamily="34" charset="0"/>
                <a:ea typeface="PT Mono" pitchFamily="34" charset="-122"/>
                <a:cs typeface="PT Mono" pitchFamily="34" charset="-120"/>
              </a:rPr>
              <a:t>$120,000</a:t>
            </a:r>
            <a:endParaRPr lang="en-US" sz="1700" dirty="0"/>
          </a:p>
        </p:txBody>
      </p:sp>
      <p:sp>
        <p:nvSpPr>
          <p:cNvPr id="15" name="Shape 12"/>
          <p:cNvSpPr/>
          <p:nvPr/>
        </p:nvSpPr>
        <p:spPr>
          <a:xfrm>
            <a:off x="8010144" y="4343400"/>
            <a:ext cx="3520440" cy="1097280"/>
          </a:xfrm>
          <a:prstGeom prst="rect">
            <a:avLst/>
          </a:prstGeom>
          <a:solidFill>
            <a:srgbClr val="FFFFFF"/>
          </a:solidFill>
          <a:ln w="12700">
            <a:solidFill>
              <a:srgbClr val="D9D2CC"/>
            </a:solidFill>
            <a:prstDash val="solid"/>
          </a:ln>
        </p:spPr>
      </p:sp>
      <p:sp>
        <p:nvSpPr>
          <p:cNvPr id="16" name="Text 13"/>
          <p:cNvSpPr/>
          <p:nvPr/>
        </p:nvSpPr>
        <p:spPr>
          <a:xfrm>
            <a:off x="8229600" y="4507992"/>
            <a:ext cx="3108960" cy="292608"/>
          </a:xfrm>
          <a:prstGeom prst="rect">
            <a:avLst/>
          </a:prstGeom>
          <a:noFill/>
          <a:ln/>
        </p:spPr>
        <p:txBody>
          <a:bodyPr wrap="square" lIns="0" tIns="0" rIns="0" bIns="0" rtlCol="0" anchor="ctr"/>
          <a:lstStyle/>
          <a:p>
            <a:pPr indent="0" marL="0">
              <a:buNone/>
            </a:pPr>
            <a:r>
              <a:rPr lang="en-US" sz="1200" b="1" spc="50" kern="0" dirty="0">
                <a:solidFill>
                  <a:srgbClr val="1A1A1A"/>
                </a:solidFill>
                <a:latin typeface="PT Mono" pitchFamily="34" charset="0"/>
                <a:ea typeface="PT Mono" pitchFamily="34" charset="-122"/>
                <a:cs typeface="PT Mono" pitchFamily="34" charset="-120"/>
              </a:rPr>
              <a:t>PROTOCOL ENGINEER</a:t>
            </a:r>
            <a:endParaRPr lang="en-US" sz="1200" dirty="0"/>
          </a:p>
        </p:txBody>
      </p:sp>
      <p:sp>
        <p:nvSpPr>
          <p:cNvPr id="17" name="Text 14"/>
          <p:cNvSpPr/>
          <p:nvPr/>
        </p:nvSpPr>
        <p:spPr>
          <a:xfrm>
            <a:off x="8229600" y="4800600"/>
            <a:ext cx="3108960" cy="411480"/>
          </a:xfrm>
          <a:prstGeom prst="rect">
            <a:avLst/>
          </a:prstGeom>
          <a:noFill/>
          <a:ln/>
        </p:spPr>
        <p:txBody>
          <a:bodyPr wrap="square" lIns="0" tIns="0" rIns="0" bIns="0" rtlCol="0" anchor="ctr"/>
          <a:lstStyle/>
          <a:p>
            <a:pPr indent="0" marL="0">
              <a:lnSpc>
                <a:spcPct val="120000"/>
              </a:lnSpc>
              <a:buNone/>
            </a:pPr>
            <a:r>
              <a:rPr lang="en-US" sz="1150" dirty="0">
                <a:solidFill>
                  <a:srgbClr val="55504C"/>
                </a:solidFill>
                <a:latin typeface="Helvetica Neue" pitchFamily="34" charset="0"/>
                <a:ea typeface="Helvetica Neue" pitchFamily="34" charset="-122"/>
                <a:cs typeface="Helvetica Neue" pitchFamily="34" charset="-120"/>
              </a:rPr>
              <a:t>First hire to harden the rails</a:t>
            </a:r>
            <a:endParaRPr lang="en-US" sz="1150" dirty="0"/>
          </a:p>
        </p:txBody>
      </p:sp>
      <p:sp>
        <p:nvSpPr>
          <p:cNvPr id="18" name="Text 15"/>
          <p:cNvSpPr/>
          <p:nvPr/>
        </p:nvSpPr>
        <p:spPr>
          <a:xfrm>
            <a:off x="8229600" y="5129784"/>
            <a:ext cx="3108960" cy="292608"/>
          </a:xfrm>
          <a:prstGeom prst="rect">
            <a:avLst/>
          </a:prstGeom>
          <a:noFill/>
          <a:ln/>
        </p:spPr>
        <p:txBody>
          <a:bodyPr wrap="square" lIns="0" tIns="0" rIns="0" bIns="0" rtlCol="0" anchor="ctr"/>
          <a:lstStyle/>
          <a:p>
            <a:pPr indent="0" marL="0">
              <a:buNone/>
            </a:pPr>
            <a:r>
              <a:rPr lang="en-US" sz="1700" b="1" dirty="0">
                <a:solidFill>
                  <a:srgbClr val="E8492B"/>
                </a:solidFill>
                <a:latin typeface="PT Mono" pitchFamily="34" charset="0"/>
                <a:ea typeface="PT Mono" pitchFamily="34" charset="-122"/>
                <a:cs typeface="PT Mono" pitchFamily="34" charset="-120"/>
              </a:rPr>
              <a:t>$90,000</a:t>
            </a:r>
            <a:endParaRPr lang="en-US" sz="1700" dirty="0"/>
          </a:p>
        </p:txBody>
      </p:sp>
      <p:sp>
        <p:nvSpPr>
          <p:cNvPr id="19" name="Shape 16"/>
          <p:cNvSpPr/>
          <p:nvPr/>
        </p:nvSpPr>
        <p:spPr>
          <a:xfrm>
            <a:off x="640080" y="5586984"/>
            <a:ext cx="3520440" cy="1097280"/>
          </a:xfrm>
          <a:prstGeom prst="rect">
            <a:avLst/>
          </a:prstGeom>
          <a:solidFill>
            <a:srgbClr val="FFFFFF"/>
          </a:solidFill>
          <a:ln w="12700">
            <a:solidFill>
              <a:srgbClr val="D9D2CC"/>
            </a:solidFill>
            <a:prstDash val="solid"/>
          </a:ln>
        </p:spPr>
      </p:sp>
      <p:sp>
        <p:nvSpPr>
          <p:cNvPr id="20" name="Text 17"/>
          <p:cNvSpPr/>
          <p:nvPr/>
        </p:nvSpPr>
        <p:spPr>
          <a:xfrm>
            <a:off x="859536" y="5751576"/>
            <a:ext cx="3108960" cy="292608"/>
          </a:xfrm>
          <a:prstGeom prst="rect">
            <a:avLst/>
          </a:prstGeom>
          <a:noFill/>
          <a:ln/>
        </p:spPr>
        <p:txBody>
          <a:bodyPr wrap="square" lIns="0" tIns="0" rIns="0" bIns="0" rtlCol="0" anchor="ctr"/>
          <a:lstStyle/>
          <a:p>
            <a:pPr indent="0" marL="0">
              <a:buNone/>
            </a:pPr>
            <a:r>
              <a:rPr lang="en-US" sz="1200" b="1" spc="50" kern="0" dirty="0">
                <a:solidFill>
                  <a:srgbClr val="1A1A1A"/>
                </a:solidFill>
                <a:latin typeface="PT Mono" pitchFamily="34" charset="0"/>
                <a:ea typeface="PT Mono" pitchFamily="34" charset="-122"/>
                <a:cs typeface="PT Mono" pitchFamily="34" charset="-120"/>
              </a:rPr>
              <a:t>BD &amp; PARTNERSHIPS</a:t>
            </a:r>
            <a:endParaRPr lang="en-US" sz="1200" dirty="0"/>
          </a:p>
        </p:txBody>
      </p:sp>
      <p:sp>
        <p:nvSpPr>
          <p:cNvPr id="21" name="Text 18"/>
          <p:cNvSpPr/>
          <p:nvPr/>
        </p:nvSpPr>
        <p:spPr>
          <a:xfrm>
            <a:off x="859536" y="6044184"/>
            <a:ext cx="3108960" cy="411480"/>
          </a:xfrm>
          <a:prstGeom prst="rect">
            <a:avLst/>
          </a:prstGeom>
          <a:noFill/>
          <a:ln/>
        </p:spPr>
        <p:txBody>
          <a:bodyPr wrap="square" lIns="0" tIns="0" rIns="0" bIns="0" rtlCol="0" anchor="ctr"/>
          <a:lstStyle/>
          <a:p>
            <a:pPr indent="0" marL="0">
              <a:lnSpc>
                <a:spcPct val="120000"/>
              </a:lnSpc>
              <a:buNone/>
            </a:pPr>
            <a:r>
              <a:rPr lang="en-US" sz="1150" dirty="0">
                <a:solidFill>
                  <a:srgbClr val="55504C"/>
                </a:solidFill>
                <a:latin typeface="Helvetica Neue" pitchFamily="34" charset="0"/>
                <a:ea typeface="Helvetica Neue" pitchFamily="34" charset="-122"/>
                <a:cs typeface="Helvetica Neue" pitchFamily="34" charset="-120"/>
              </a:rPr>
              <a:t>Onboard first open-video platforms</a:t>
            </a:r>
            <a:endParaRPr lang="en-US" sz="1150" dirty="0"/>
          </a:p>
        </p:txBody>
      </p:sp>
      <p:sp>
        <p:nvSpPr>
          <p:cNvPr id="22" name="Text 19"/>
          <p:cNvSpPr/>
          <p:nvPr/>
        </p:nvSpPr>
        <p:spPr>
          <a:xfrm>
            <a:off x="859536" y="6373368"/>
            <a:ext cx="3108960" cy="292608"/>
          </a:xfrm>
          <a:prstGeom prst="rect">
            <a:avLst/>
          </a:prstGeom>
          <a:noFill/>
          <a:ln/>
        </p:spPr>
        <p:txBody>
          <a:bodyPr wrap="square" lIns="0" tIns="0" rIns="0" bIns="0" rtlCol="0" anchor="ctr"/>
          <a:lstStyle/>
          <a:p>
            <a:pPr indent="0" marL="0">
              <a:buNone/>
            </a:pPr>
            <a:r>
              <a:rPr lang="en-US" sz="1700" b="1" dirty="0">
                <a:solidFill>
                  <a:srgbClr val="E8492B"/>
                </a:solidFill>
                <a:latin typeface="PT Mono" pitchFamily="34" charset="0"/>
                <a:ea typeface="PT Mono" pitchFamily="34" charset="-122"/>
                <a:cs typeface="PT Mono" pitchFamily="34" charset="-120"/>
              </a:rPr>
              <a:t>$40,000</a:t>
            </a:r>
            <a:endParaRPr lang="en-US" sz="1700" dirty="0"/>
          </a:p>
        </p:txBody>
      </p:sp>
      <p:sp>
        <p:nvSpPr>
          <p:cNvPr id="23" name="Shape 20"/>
          <p:cNvSpPr/>
          <p:nvPr/>
        </p:nvSpPr>
        <p:spPr>
          <a:xfrm>
            <a:off x="4325112" y="5586984"/>
            <a:ext cx="3520440" cy="1097280"/>
          </a:xfrm>
          <a:prstGeom prst="rect">
            <a:avLst/>
          </a:prstGeom>
          <a:solidFill>
            <a:srgbClr val="FFFFFF"/>
          </a:solidFill>
          <a:ln w="12700">
            <a:solidFill>
              <a:srgbClr val="D9D2CC"/>
            </a:solidFill>
            <a:prstDash val="solid"/>
          </a:ln>
        </p:spPr>
      </p:sp>
      <p:sp>
        <p:nvSpPr>
          <p:cNvPr id="24" name="Text 21"/>
          <p:cNvSpPr/>
          <p:nvPr/>
        </p:nvSpPr>
        <p:spPr>
          <a:xfrm>
            <a:off x="4544568" y="5751576"/>
            <a:ext cx="3108960" cy="292608"/>
          </a:xfrm>
          <a:prstGeom prst="rect">
            <a:avLst/>
          </a:prstGeom>
          <a:noFill/>
          <a:ln/>
        </p:spPr>
        <p:txBody>
          <a:bodyPr wrap="square" lIns="0" tIns="0" rIns="0" bIns="0" rtlCol="0" anchor="ctr"/>
          <a:lstStyle/>
          <a:p>
            <a:pPr indent="0" marL="0">
              <a:buNone/>
            </a:pPr>
            <a:r>
              <a:rPr lang="en-US" sz="1200" b="1" spc="50" kern="0" dirty="0">
                <a:solidFill>
                  <a:srgbClr val="1A1A1A"/>
                </a:solidFill>
                <a:latin typeface="PT Mono" pitchFamily="34" charset="0"/>
                <a:ea typeface="PT Mono" pitchFamily="34" charset="-122"/>
                <a:cs typeface="PT Mono" pitchFamily="34" charset="-120"/>
              </a:rPr>
              <a:t>INFRA &amp; TOOLING</a:t>
            </a:r>
            <a:endParaRPr lang="en-US" sz="1200" dirty="0"/>
          </a:p>
        </p:txBody>
      </p:sp>
      <p:sp>
        <p:nvSpPr>
          <p:cNvPr id="25" name="Text 22"/>
          <p:cNvSpPr/>
          <p:nvPr/>
        </p:nvSpPr>
        <p:spPr>
          <a:xfrm>
            <a:off x="4544568" y="6044184"/>
            <a:ext cx="3108960" cy="411480"/>
          </a:xfrm>
          <a:prstGeom prst="rect">
            <a:avLst/>
          </a:prstGeom>
          <a:noFill/>
          <a:ln/>
        </p:spPr>
        <p:txBody>
          <a:bodyPr wrap="square" lIns="0" tIns="0" rIns="0" bIns="0" rtlCol="0" anchor="ctr"/>
          <a:lstStyle/>
          <a:p>
            <a:pPr indent="0" marL="0">
              <a:lnSpc>
                <a:spcPct val="120000"/>
              </a:lnSpc>
              <a:buNone/>
            </a:pPr>
            <a:r>
              <a:rPr lang="en-US" sz="1150" dirty="0">
                <a:solidFill>
                  <a:srgbClr val="55504C"/>
                </a:solidFill>
                <a:latin typeface="Helvetica Neue" pitchFamily="34" charset="0"/>
                <a:ea typeface="Helvetica Neue" pitchFamily="34" charset="-122"/>
                <a:cs typeface="Helvetica Neue" pitchFamily="34" charset="-120"/>
              </a:rPr>
              <a:t>RPC, hosting, monitoring, CI</a:t>
            </a:r>
            <a:endParaRPr lang="en-US" sz="1150" dirty="0"/>
          </a:p>
        </p:txBody>
      </p:sp>
      <p:sp>
        <p:nvSpPr>
          <p:cNvPr id="26" name="Text 23"/>
          <p:cNvSpPr/>
          <p:nvPr/>
        </p:nvSpPr>
        <p:spPr>
          <a:xfrm>
            <a:off x="4544568" y="6373368"/>
            <a:ext cx="3108960" cy="292608"/>
          </a:xfrm>
          <a:prstGeom prst="rect">
            <a:avLst/>
          </a:prstGeom>
          <a:noFill/>
          <a:ln/>
        </p:spPr>
        <p:txBody>
          <a:bodyPr wrap="square" lIns="0" tIns="0" rIns="0" bIns="0" rtlCol="0" anchor="ctr"/>
          <a:lstStyle/>
          <a:p>
            <a:pPr indent="0" marL="0">
              <a:buNone/>
            </a:pPr>
            <a:r>
              <a:rPr lang="en-US" sz="1700" b="1" dirty="0">
                <a:solidFill>
                  <a:srgbClr val="E8492B"/>
                </a:solidFill>
                <a:latin typeface="PT Mono" pitchFamily="34" charset="0"/>
                <a:ea typeface="PT Mono" pitchFamily="34" charset="-122"/>
                <a:cs typeface="PT Mono" pitchFamily="34" charset="-120"/>
              </a:rPr>
              <a:t>$30,000</a:t>
            </a:r>
            <a:endParaRPr lang="en-US" sz="1700" dirty="0"/>
          </a:p>
        </p:txBody>
      </p:sp>
      <p:sp>
        <p:nvSpPr>
          <p:cNvPr id="27" name="Shape 24"/>
          <p:cNvSpPr/>
          <p:nvPr/>
        </p:nvSpPr>
        <p:spPr>
          <a:xfrm>
            <a:off x="8010144" y="5586984"/>
            <a:ext cx="3520440" cy="1097280"/>
          </a:xfrm>
          <a:prstGeom prst="rect">
            <a:avLst/>
          </a:prstGeom>
          <a:solidFill>
            <a:srgbClr val="FFFFFF"/>
          </a:solidFill>
          <a:ln w="12700">
            <a:solidFill>
              <a:srgbClr val="D9D2CC"/>
            </a:solidFill>
            <a:prstDash val="solid"/>
          </a:ln>
        </p:spPr>
      </p:sp>
      <p:sp>
        <p:nvSpPr>
          <p:cNvPr id="28" name="Text 25"/>
          <p:cNvSpPr/>
          <p:nvPr/>
        </p:nvSpPr>
        <p:spPr>
          <a:xfrm>
            <a:off x="8229600" y="5751576"/>
            <a:ext cx="3108960" cy="292608"/>
          </a:xfrm>
          <a:prstGeom prst="rect">
            <a:avLst/>
          </a:prstGeom>
          <a:noFill/>
          <a:ln/>
        </p:spPr>
        <p:txBody>
          <a:bodyPr wrap="square" lIns="0" tIns="0" rIns="0" bIns="0" rtlCol="0" anchor="ctr"/>
          <a:lstStyle/>
          <a:p>
            <a:pPr indent="0" marL="0">
              <a:buNone/>
            </a:pPr>
            <a:r>
              <a:rPr lang="en-US" sz="1200" b="1" spc="50" kern="0" dirty="0">
                <a:solidFill>
                  <a:srgbClr val="1A1A1A"/>
                </a:solidFill>
                <a:latin typeface="PT Mono" pitchFamily="34" charset="0"/>
                <a:ea typeface="PT Mono" pitchFamily="34" charset="-122"/>
                <a:cs typeface="PT Mono" pitchFamily="34" charset="-120"/>
              </a:rPr>
              <a:t>CONTINGENCY</a:t>
            </a:r>
            <a:endParaRPr lang="en-US" sz="1200" dirty="0"/>
          </a:p>
        </p:txBody>
      </p:sp>
      <p:sp>
        <p:nvSpPr>
          <p:cNvPr id="29" name="Text 26"/>
          <p:cNvSpPr/>
          <p:nvPr/>
        </p:nvSpPr>
        <p:spPr>
          <a:xfrm>
            <a:off x="8229600" y="6044184"/>
            <a:ext cx="3108960" cy="411480"/>
          </a:xfrm>
          <a:prstGeom prst="rect">
            <a:avLst/>
          </a:prstGeom>
          <a:noFill/>
          <a:ln/>
        </p:spPr>
        <p:txBody>
          <a:bodyPr wrap="square" lIns="0" tIns="0" rIns="0" bIns="0" rtlCol="0" anchor="ctr"/>
          <a:lstStyle/>
          <a:p>
            <a:pPr indent="0" marL="0">
              <a:lnSpc>
                <a:spcPct val="120000"/>
              </a:lnSpc>
              <a:buNone/>
            </a:pPr>
            <a:r>
              <a:rPr lang="en-US" sz="1150" dirty="0">
                <a:solidFill>
                  <a:srgbClr val="55504C"/>
                </a:solidFill>
                <a:latin typeface="Helvetica Neue" pitchFamily="34" charset="0"/>
                <a:ea typeface="Helvetica Neue" pitchFamily="34" charset="-122"/>
                <a:cs typeface="Helvetica Neue" pitchFamily="34" charset="-120"/>
              </a:rPr>
              <a:t>Reserve for scope changes</a:t>
            </a:r>
            <a:endParaRPr lang="en-US" sz="1150" dirty="0"/>
          </a:p>
        </p:txBody>
      </p:sp>
      <p:sp>
        <p:nvSpPr>
          <p:cNvPr id="30" name="Text 27"/>
          <p:cNvSpPr/>
          <p:nvPr/>
        </p:nvSpPr>
        <p:spPr>
          <a:xfrm>
            <a:off x="8229600" y="6373368"/>
            <a:ext cx="3108960" cy="292608"/>
          </a:xfrm>
          <a:prstGeom prst="rect">
            <a:avLst/>
          </a:prstGeom>
          <a:noFill/>
          <a:ln/>
        </p:spPr>
        <p:txBody>
          <a:bodyPr wrap="square" lIns="0" tIns="0" rIns="0" bIns="0" rtlCol="0" anchor="ctr"/>
          <a:lstStyle/>
          <a:p>
            <a:pPr indent="0" marL="0">
              <a:buNone/>
            </a:pPr>
            <a:r>
              <a:rPr lang="en-US" sz="1700" b="1" dirty="0">
                <a:solidFill>
                  <a:srgbClr val="E8492B"/>
                </a:solidFill>
                <a:latin typeface="PT Mono" pitchFamily="34" charset="0"/>
                <a:ea typeface="PT Mono" pitchFamily="34" charset="-122"/>
                <a:cs typeface="PT Mono" pitchFamily="34" charset="-120"/>
              </a:rPr>
              <a:t>$20,000</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49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228832" y="548640"/>
            <a:ext cx="314221" cy="384048"/>
          </a:xfrm>
          <a:prstGeom prst="rect">
            <a:avLst/>
          </a:prstGeom>
        </p:spPr>
      </p:pic>
      <p:sp>
        <p:nvSpPr>
          <p:cNvPr id="3" name="Text 0"/>
          <p:cNvSpPr/>
          <p:nvPr/>
        </p:nvSpPr>
        <p:spPr>
          <a:xfrm>
            <a:off x="640080" y="566928"/>
            <a:ext cx="10058400" cy="274320"/>
          </a:xfrm>
          <a:prstGeom prst="rect">
            <a:avLst/>
          </a:prstGeom>
          <a:noFill/>
          <a:ln/>
        </p:spPr>
        <p:txBody>
          <a:bodyPr wrap="square" lIns="0" tIns="0" rIns="0" bIns="0" rtlCol="0" anchor="ctr"/>
          <a:lstStyle/>
          <a:p>
            <a:pPr indent="0" marL="0">
              <a:buNone/>
            </a:pPr>
            <a:r>
              <a:rPr lang="en-US" sz="1300" spc="300" kern="0" dirty="0">
                <a:solidFill>
                  <a:srgbClr val="F8E8E0"/>
                </a:solidFill>
                <a:latin typeface="PT Mono" pitchFamily="34" charset="0"/>
                <a:ea typeface="PT Mono" pitchFamily="34" charset="-122"/>
                <a:cs typeface="PT Mono" pitchFamily="34" charset="-120"/>
              </a:rPr>
              <a:t>THE VISION</a:t>
            </a:r>
            <a:endParaRPr lang="en-US" sz="1300" dirty="0"/>
          </a:p>
        </p:txBody>
      </p:sp>
      <p:sp>
        <p:nvSpPr>
          <p:cNvPr id="4" name="Text 1"/>
          <p:cNvSpPr/>
          <p:nvPr/>
        </p:nvSpPr>
        <p:spPr>
          <a:xfrm>
            <a:off x="621792" y="1691640"/>
            <a:ext cx="10789920" cy="182880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Helvetica Neue" pitchFamily="34" charset="0"/>
                <a:ea typeface="Helvetica Neue" pitchFamily="34" charset="-122"/>
                <a:cs typeface="Helvetica Neue" pitchFamily="34" charset="-120"/>
              </a:rPr>
              <a:t>The open web finally</a:t>
            </a:r>
            <a:endParaRPr lang="en-US" sz="4200" dirty="0"/>
          </a:p>
          <a:p>
            <a:pPr indent="0" marL="0">
              <a:lnSpc>
                <a:spcPct val="105000"/>
              </a:lnSpc>
              <a:buNone/>
            </a:pPr>
            <a:r>
              <a:rPr lang="en-US" sz="4200" b="1" dirty="0">
                <a:solidFill>
                  <a:srgbClr val="FFFFFF"/>
                </a:solidFill>
                <a:latin typeface="Helvetica Neue" pitchFamily="34" charset="0"/>
                <a:ea typeface="Helvetica Neue" pitchFamily="34" charset="-122"/>
                <a:cs typeface="Helvetica Neue" pitchFamily="34" charset="-120"/>
              </a:rPr>
              <a:t>has a business model.</a:t>
            </a:r>
            <a:endParaRPr lang="en-US" sz="4200" dirty="0"/>
          </a:p>
        </p:txBody>
      </p:sp>
      <p:sp>
        <p:nvSpPr>
          <p:cNvPr id="5" name="Text 2"/>
          <p:cNvSpPr/>
          <p:nvPr/>
        </p:nvSpPr>
        <p:spPr>
          <a:xfrm>
            <a:off x="640080" y="3611880"/>
            <a:ext cx="10058400" cy="548640"/>
          </a:xfrm>
          <a:prstGeom prst="rect">
            <a:avLst/>
          </a:prstGeom>
          <a:noFill/>
          <a:ln/>
        </p:spPr>
        <p:txBody>
          <a:bodyPr wrap="square" lIns="0" tIns="0" rIns="0" bIns="0" rtlCol="0" anchor="ctr"/>
          <a:lstStyle/>
          <a:p>
            <a:pPr indent="0" marL="0">
              <a:buNone/>
            </a:pPr>
            <a:r>
              <a:rPr lang="en-US" sz="1700" dirty="0">
                <a:solidFill>
                  <a:srgbClr val="F8E8E0"/>
                </a:solidFill>
                <a:latin typeface="Helvetica Neue" pitchFamily="34" charset="0"/>
                <a:ea typeface="Helvetica Neue" pitchFamily="34" charset="-122"/>
                <a:cs typeface="Helvetica Neue" pitchFamily="34" charset="-120"/>
              </a:rPr>
              <a:t>Pay creators per genuine view, in dollars, instantly — wherever video lives.</a:t>
            </a:r>
            <a:endParaRPr lang="en-US" sz="1700" dirty="0"/>
          </a:p>
        </p:txBody>
      </p:sp>
      <p:sp>
        <p:nvSpPr>
          <p:cNvPr id="6" name="Shape 3"/>
          <p:cNvSpPr/>
          <p:nvPr/>
        </p:nvSpPr>
        <p:spPr>
          <a:xfrm>
            <a:off x="640080" y="4709160"/>
            <a:ext cx="10927080" cy="0"/>
          </a:xfrm>
          <a:prstGeom prst="line">
            <a:avLst/>
          </a:prstGeom>
          <a:noFill/>
          <a:ln w="12700">
            <a:solidFill>
              <a:srgbClr val="F0B9AC"/>
            </a:solidFill>
            <a:prstDash val="solid"/>
          </a:ln>
        </p:spPr>
      </p:sp>
      <p:sp>
        <p:nvSpPr>
          <p:cNvPr id="7" name="Text 4"/>
          <p:cNvSpPr/>
          <p:nvPr/>
        </p:nvSpPr>
        <p:spPr>
          <a:xfrm>
            <a:off x="640080" y="4937760"/>
            <a:ext cx="5486400" cy="3200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PT Mono" pitchFamily="34" charset="0"/>
                <a:ea typeface="PT Mono" pitchFamily="34" charset="-122"/>
                <a:cs typeface="PT Mono" pitchFamily="34" charset="-120"/>
              </a:rPr>
              <a:t>MALEK SHARABI</a:t>
            </a:r>
            <a:endParaRPr lang="en-US" sz="1400" dirty="0"/>
          </a:p>
        </p:txBody>
      </p:sp>
      <p:sp>
        <p:nvSpPr>
          <p:cNvPr id="8" name="Text 5"/>
          <p:cNvSpPr/>
          <p:nvPr/>
        </p:nvSpPr>
        <p:spPr>
          <a:xfrm>
            <a:off x="640080" y="5285232"/>
            <a:ext cx="5486400" cy="274320"/>
          </a:xfrm>
          <a:prstGeom prst="rect">
            <a:avLst/>
          </a:prstGeom>
          <a:noFill/>
          <a:ln/>
        </p:spPr>
        <p:txBody>
          <a:bodyPr wrap="square" lIns="0" tIns="0" rIns="0" bIns="0" rtlCol="0" anchor="ctr"/>
          <a:lstStyle/>
          <a:p>
            <a:pPr indent="0" marL="0">
              <a:buNone/>
            </a:pPr>
            <a:r>
              <a:rPr lang="en-US" sz="1300" dirty="0">
                <a:solidFill>
                  <a:srgbClr val="F8E8E0"/>
                </a:solidFill>
                <a:latin typeface="Helvetica Neue" pitchFamily="34" charset="0"/>
                <a:ea typeface="Helvetica Neue" pitchFamily="34" charset="-122"/>
                <a:cs typeface="Helvetica Neue" pitchFamily="34" charset="-120"/>
              </a:rPr>
              <a:t>Founder &amp; Engineer, Arclight</a:t>
            </a:r>
            <a:endParaRPr lang="en-US" sz="1300" dirty="0"/>
          </a:p>
        </p:txBody>
      </p:sp>
      <p:sp>
        <p:nvSpPr>
          <p:cNvPr id="9" name="Text 6"/>
          <p:cNvSpPr/>
          <p:nvPr/>
        </p:nvSpPr>
        <p:spPr>
          <a:xfrm>
            <a:off x="640080" y="5806440"/>
            <a:ext cx="1005840" cy="274320"/>
          </a:xfrm>
          <a:prstGeom prst="rect">
            <a:avLst/>
          </a:prstGeom>
          <a:noFill/>
          <a:ln/>
        </p:spPr>
        <p:txBody>
          <a:bodyPr wrap="square" lIns="0" tIns="0" rIns="0" bIns="0" rtlCol="0" anchor="ctr"/>
          <a:lstStyle/>
          <a:p>
            <a:pPr indent="0" marL="0">
              <a:buNone/>
            </a:pPr>
            <a:r>
              <a:rPr lang="en-US" sz="1100" spc="200" kern="0" dirty="0">
                <a:solidFill>
                  <a:srgbClr val="F0B9AC"/>
                </a:solidFill>
                <a:latin typeface="PT Mono" pitchFamily="34" charset="0"/>
                <a:ea typeface="PT Mono" pitchFamily="34" charset="-122"/>
                <a:cs typeface="PT Mono" pitchFamily="34" charset="-120"/>
              </a:rPr>
              <a:t>EMAIL</a:t>
            </a:r>
            <a:endParaRPr lang="en-US" sz="1100" dirty="0"/>
          </a:p>
        </p:txBody>
      </p:sp>
      <p:sp>
        <p:nvSpPr>
          <p:cNvPr id="10" name="Text 7"/>
          <p:cNvSpPr/>
          <p:nvPr/>
        </p:nvSpPr>
        <p:spPr>
          <a:xfrm>
            <a:off x="1691640" y="5806440"/>
            <a:ext cx="5486400" cy="274320"/>
          </a:xfrm>
          <a:prstGeom prst="rect">
            <a:avLst/>
          </a:prstGeom>
          <a:noFill/>
          <a:ln/>
        </p:spPr>
        <p:txBody>
          <a:bodyPr wrap="square" lIns="0" tIns="0" rIns="0" bIns="0" rtlCol="0" anchor="ctr"/>
          <a:lstStyle/>
          <a:p>
            <a:pPr indent="0" marL="0">
              <a:buNone/>
            </a:pPr>
            <a:r>
              <a:rPr lang="en-US" sz="1200" dirty="0">
                <a:solidFill>
                  <a:srgbClr val="FFFFFF"/>
                </a:solidFill>
                <a:latin typeface="PT Mono" pitchFamily="34" charset="0"/>
                <a:ea typeface="PT Mono" pitchFamily="34" charset="-122"/>
                <a:cs typeface="PT Mono" pitchFamily="34" charset="-120"/>
              </a:rPr>
              <a:t>m.malek1996@hotmail.com</a:t>
            </a:r>
            <a:endParaRPr lang="en-US" sz="1200" dirty="0"/>
          </a:p>
        </p:txBody>
      </p:sp>
      <p:sp>
        <p:nvSpPr>
          <p:cNvPr id="11" name="Text 8"/>
          <p:cNvSpPr/>
          <p:nvPr/>
        </p:nvSpPr>
        <p:spPr>
          <a:xfrm>
            <a:off x="640080" y="6117336"/>
            <a:ext cx="1005840" cy="274320"/>
          </a:xfrm>
          <a:prstGeom prst="rect">
            <a:avLst/>
          </a:prstGeom>
          <a:noFill/>
          <a:ln/>
        </p:spPr>
        <p:txBody>
          <a:bodyPr wrap="square" lIns="0" tIns="0" rIns="0" bIns="0" rtlCol="0" anchor="ctr"/>
          <a:lstStyle/>
          <a:p>
            <a:pPr indent="0" marL="0">
              <a:buNone/>
            </a:pPr>
            <a:r>
              <a:rPr lang="en-US" sz="1100" spc="200" kern="0" dirty="0">
                <a:solidFill>
                  <a:srgbClr val="F0B9AC"/>
                </a:solidFill>
                <a:latin typeface="PT Mono" pitchFamily="34" charset="0"/>
                <a:ea typeface="PT Mono" pitchFamily="34" charset="-122"/>
                <a:cs typeface="PT Mono" pitchFamily="34" charset="-120"/>
              </a:rPr>
              <a:t>CODE</a:t>
            </a:r>
            <a:endParaRPr lang="en-US" sz="1100" dirty="0"/>
          </a:p>
        </p:txBody>
      </p:sp>
      <p:sp>
        <p:nvSpPr>
          <p:cNvPr id="12" name="Text 9"/>
          <p:cNvSpPr/>
          <p:nvPr/>
        </p:nvSpPr>
        <p:spPr>
          <a:xfrm>
            <a:off x="1691640" y="6117336"/>
            <a:ext cx="5486400" cy="274320"/>
          </a:xfrm>
          <a:prstGeom prst="rect">
            <a:avLst/>
          </a:prstGeom>
          <a:noFill/>
          <a:ln/>
        </p:spPr>
        <p:txBody>
          <a:bodyPr wrap="square" lIns="0" tIns="0" rIns="0" bIns="0" rtlCol="0" anchor="ctr"/>
          <a:lstStyle/>
          <a:p>
            <a:pPr indent="0" marL="0">
              <a:buNone/>
            </a:pPr>
            <a:r>
              <a:rPr lang="en-US" sz="1200" dirty="0">
                <a:solidFill>
                  <a:srgbClr val="FFFFFF"/>
                </a:solidFill>
                <a:latin typeface="PT Mono" pitchFamily="34" charset="0"/>
                <a:ea typeface="PT Mono" pitchFamily="34" charset="-122"/>
                <a:cs typeface="PT Mono" pitchFamily="34" charset="-120"/>
              </a:rPr>
              <a:t>github.com/mgx96/arclight</a:t>
            </a:r>
            <a:endParaRPr lang="en-US" sz="1200" dirty="0"/>
          </a:p>
        </p:txBody>
      </p:sp>
      <p:sp>
        <p:nvSpPr>
          <p:cNvPr id="13" name="Text 10"/>
          <p:cNvSpPr/>
          <p:nvPr/>
        </p:nvSpPr>
        <p:spPr>
          <a:xfrm>
            <a:off x="640080" y="6428232"/>
            <a:ext cx="1005840" cy="274320"/>
          </a:xfrm>
          <a:prstGeom prst="rect">
            <a:avLst/>
          </a:prstGeom>
          <a:noFill/>
          <a:ln/>
        </p:spPr>
        <p:txBody>
          <a:bodyPr wrap="square" lIns="0" tIns="0" rIns="0" bIns="0" rtlCol="0" anchor="ctr"/>
          <a:lstStyle/>
          <a:p>
            <a:pPr indent="0" marL="0">
              <a:buNone/>
            </a:pPr>
            <a:r>
              <a:rPr lang="en-US" sz="1100" spc="200" kern="0" dirty="0">
                <a:solidFill>
                  <a:srgbClr val="F0B9AC"/>
                </a:solidFill>
                <a:latin typeface="PT Mono" pitchFamily="34" charset="0"/>
                <a:ea typeface="PT Mono" pitchFamily="34" charset="-122"/>
                <a:cs typeface="PT Mono" pitchFamily="34" charset="-120"/>
              </a:rPr>
              <a:t>DEMO</a:t>
            </a:r>
            <a:endParaRPr lang="en-US" sz="1100" dirty="0"/>
          </a:p>
        </p:txBody>
      </p:sp>
      <p:sp>
        <p:nvSpPr>
          <p:cNvPr id="14" name="Text 11"/>
          <p:cNvSpPr/>
          <p:nvPr/>
        </p:nvSpPr>
        <p:spPr>
          <a:xfrm>
            <a:off x="1691640" y="6428232"/>
            <a:ext cx="5486400" cy="274320"/>
          </a:xfrm>
          <a:prstGeom prst="rect">
            <a:avLst/>
          </a:prstGeom>
          <a:noFill/>
          <a:ln/>
        </p:spPr>
        <p:txBody>
          <a:bodyPr wrap="square" lIns="0" tIns="0" rIns="0" bIns="0" rtlCol="0" anchor="ctr"/>
          <a:lstStyle/>
          <a:p>
            <a:pPr indent="0" marL="0">
              <a:buNone/>
            </a:pPr>
            <a:r>
              <a:rPr lang="en-US" sz="1200" dirty="0">
                <a:solidFill>
                  <a:srgbClr val="FFFFFF"/>
                </a:solidFill>
                <a:latin typeface="PT Mono" pitchFamily="34" charset="0"/>
                <a:ea typeface="PT Mono" pitchFamily="34" charset="-122"/>
                <a:cs typeface="PT Mono" pitchFamily="34" charset="-120"/>
              </a:rPr>
              <a:t>mgx96.github.io/arclight</a:t>
            </a:r>
            <a:endParaRPr lang="en-US" sz="1200" dirty="0"/>
          </a:p>
        </p:txBody>
      </p:sp>
      <p:sp>
        <p:nvSpPr>
          <p:cNvPr id="15" name="Text 12"/>
          <p:cNvSpPr/>
          <p:nvPr/>
        </p:nvSpPr>
        <p:spPr>
          <a:xfrm>
            <a:off x="5760720" y="5394960"/>
            <a:ext cx="5852160" cy="1097280"/>
          </a:xfrm>
          <a:prstGeom prst="rect">
            <a:avLst/>
          </a:prstGeom>
          <a:noFill/>
          <a:ln/>
        </p:spPr>
        <p:txBody>
          <a:bodyPr wrap="square" lIns="0" tIns="0" rIns="0" bIns="0" rtlCol="0" anchor="b"/>
          <a:lstStyle/>
          <a:p>
            <a:pPr algn="r" indent="0" marL="0">
              <a:buNone/>
            </a:pPr>
            <a:r>
              <a:rPr lang="en-US" sz="5400" b="1" spc="100" kern="0" dirty="0">
                <a:solidFill>
                  <a:srgbClr val="FFFFFF"/>
                </a:solidFill>
                <a:latin typeface="PT Mono" pitchFamily="34" charset="0"/>
                <a:ea typeface="PT Mono" pitchFamily="34" charset="-122"/>
                <a:cs typeface="PT Mono" pitchFamily="34" charset="-120"/>
              </a:rPr>
              <a:t>ARCLIGHT</a:t>
            </a:r>
            <a:endParaRPr lang="en-US" sz="5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Arclight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Arclight — Investor Deck</dc:title>
  <dc:subject>PptxGenJS Presentation</dc:subject>
  <dc:creator>Malek Sharabi</dc:creator>
  <cp:lastModifiedBy>Malek Sharabi</cp:lastModifiedBy>
  <cp:revision>1</cp:revision>
  <dcterms:created xsi:type="dcterms:W3CDTF">2026-06-25T17:15:38Z</dcterms:created>
  <dcterms:modified xsi:type="dcterms:W3CDTF">2026-06-25T17:15:38Z</dcterms:modified>
</cp:coreProperties>
</file>